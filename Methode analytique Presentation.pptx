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DM Sans Italics" charset="1" panose="00000000000000000000"/>
      <p:regular r:id="rId48"/>
    </p:embeddedFont>
    <p:embeddedFont>
      <p:font typeface="Now Bold" charset="1" panose="00000800000000000000"/>
      <p:regular r:id="rId49"/>
    </p:embeddedFont>
    <p:embeddedFont>
      <p:font typeface="DM Sans" charset="1" panose="00000000000000000000"/>
      <p:regular r:id="rId50"/>
    </p:embeddedFont>
    <p:embeddedFont>
      <p:font typeface="DM Sans Bold" charset="1" panose="00000000000000000000"/>
      <p:regular r:id="rId51"/>
    </p:embeddedFont>
    <p:embeddedFont>
      <p:font typeface="Now" charset="1" panose="00000500000000000000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7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8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9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61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80940" y="649592"/>
            <a:ext cx="7516996" cy="8987817"/>
            <a:chOff x="0" y="0"/>
            <a:chExt cx="8603361" cy="1028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2794" y="-127"/>
              <a:ext cx="8606155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6155">
                  <a:moveTo>
                    <a:pt x="8606155" y="10251440"/>
                  </a:moveTo>
                  <a:cubicBezTo>
                    <a:pt x="8606155" y="10284587"/>
                    <a:pt x="8595487" y="10286873"/>
                    <a:pt x="8567674" y="10286873"/>
                  </a:cubicBezTo>
                  <a:cubicBezTo>
                    <a:pt x="5713095" y="10286238"/>
                    <a:pt x="2858643" y="10286238"/>
                    <a:pt x="4064" y="10286238"/>
                  </a:cubicBezTo>
                  <a:cubicBezTo>
                    <a:pt x="0" y="10272395"/>
                    <a:pt x="6350" y="10259822"/>
                    <a:pt x="9271" y="10246995"/>
                  </a:cubicBezTo>
                  <a:cubicBezTo>
                    <a:pt x="134747" y="9685401"/>
                    <a:pt x="260350" y="9123934"/>
                    <a:pt x="386207" y="8562467"/>
                  </a:cubicBezTo>
                  <a:cubicBezTo>
                    <a:pt x="565658" y="7761986"/>
                    <a:pt x="745490" y="6961632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5"/>
                    <a:pt x="8605139" y="6846316"/>
                    <a:pt x="8606155" y="10251440"/>
                  </a:cubicBezTo>
                  <a:close/>
                </a:path>
              </a:pathLst>
            </a:custGeom>
            <a:blipFill>
              <a:blip r:embed="rId2"/>
              <a:stretch>
                <a:fillRect l="-57666" t="0" r="-868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6516380"/>
            <a:ext cx="7180078" cy="337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749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Présenté par: </a:t>
            </a:r>
          </a:p>
          <a:p>
            <a:pPr algn="l" marL="593596" indent="-296798" lvl="1">
              <a:lnSpc>
                <a:spcPts val="3381"/>
              </a:lnSpc>
              <a:buFont typeface="Arial"/>
              <a:buChar char="•"/>
            </a:pPr>
            <a:r>
              <a:rPr lang="en-US" sz="2749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ATCHI Abderrezak</a:t>
            </a:r>
          </a:p>
          <a:p>
            <a:pPr algn="l" marL="593596" indent="-296798" lvl="1">
              <a:lnSpc>
                <a:spcPts val="3381"/>
              </a:lnSpc>
              <a:buFont typeface="Arial"/>
              <a:buChar char="•"/>
            </a:pPr>
            <a:r>
              <a:rPr lang="en-US" sz="2749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BENSISSAID Nour Elimane</a:t>
            </a:r>
          </a:p>
          <a:p>
            <a:pPr algn="l" marL="593596" indent="-296798" lvl="1">
              <a:lnSpc>
                <a:spcPts val="3381"/>
              </a:lnSpc>
              <a:buFont typeface="Arial"/>
              <a:buChar char="•"/>
            </a:pPr>
            <a:r>
              <a:rPr lang="en-US" sz="2749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CHABBI Cerine Lyna</a:t>
            </a:r>
          </a:p>
          <a:p>
            <a:pPr algn="l" marL="593596" indent="-296798" lvl="1">
              <a:lnSpc>
                <a:spcPts val="3381"/>
              </a:lnSpc>
              <a:buFont typeface="Arial"/>
              <a:buChar char="•"/>
            </a:pPr>
            <a:r>
              <a:rPr lang="en-US" sz="2749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CHAOUI Salima</a:t>
            </a:r>
          </a:p>
          <a:p>
            <a:pPr algn="l" marL="593596" indent="-296798" lvl="1">
              <a:lnSpc>
                <a:spcPts val="3381"/>
              </a:lnSpc>
              <a:buFont typeface="Arial"/>
              <a:buChar char="•"/>
            </a:pPr>
            <a:r>
              <a:rPr lang="en-US" sz="2749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MATALLAH Mohammed Achref</a:t>
            </a:r>
          </a:p>
          <a:p>
            <a:pPr algn="l" marL="593596" indent="-296798" lvl="1">
              <a:lnSpc>
                <a:spcPts val="3381"/>
              </a:lnSpc>
              <a:buFont typeface="Arial"/>
              <a:buChar char="•"/>
            </a:pPr>
            <a:r>
              <a:rPr lang="en-US" sz="2749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TOUMERT Ania</a:t>
            </a:r>
          </a:p>
          <a:p>
            <a:pPr algn="l" marL="0" indent="0" lvl="0">
              <a:lnSpc>
                <a:spcPts val="338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57275" y="1028700"/>
            <a:ext cx="9132246" cy="3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4"/>
              </a:lnSpc>
            </a:pPr>
            <a:r>
              <a:rPr lang="en-US" sz="5386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LE CALCUL ANALYTIQUE DES PERFORMANCES</a:t>
            </a:r>
          </a:p>
          <a:p>
            <a:pPr algn="l">
              <a:lnSpc>
                <a:spcPts val="6464"/>
              </a:lnSpc>
            </a:pPr>
            <a:r>
              <a:rPr lang="en-US" sz="5386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ÉLECTROMAGNÉTIQUES D’UNE MACHINE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275" y="4326746"/>
            <a:ext cx="5899692" cy="1623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5308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ASYNCHRONE A CAGE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900729" y="2583841"/>
            <a:ext cx="8433109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6150721">
            <a:off x="6080933" y="4579544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172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074720" y="0"/>
            <a:ext cx="6254290" cy="10287000"/>
            <a:chOff x="0" y="0"/>
            <a:chExt cx="3860673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606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3860673">
                  <a:moveTo>
                    <a:pt x="3860673" y="0"/>
                  </a:moveTo>
                  <a:lnTo>
                    <a:pt x="2341753" y="6350000"/>
                  </a:lnTo>
                  <a:lnTo>
                    <a:pt x="0" y="6350000"/>
                  </a:lnTo>
                  <a:lnTo>
                    <a:pt x="1518920" y="0"/>
                  </a:lnTo>
                  <a:lnTo>
                    <a:pt x="3860673" y="0"/>
                  </a:lnTo>
                  <a:close/>
                </a:path>
              </a:pathLst>
            </a:custGeom>
            <a:blipFill>
              <a:blip r:embed="rId3"/>
              <a:stretch>
                <a:fillRect l="-121983" t="0" r="-121983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4615544">
            <a:off x="10510810" y="5041623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172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95159" y="1358617"/>
            <a:ext cx="9329138" cy="122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25"/>
              </a:lnSpc>
              <a:spcBef>
                <a:spcPct val="0"/>
              </a:spcBef>
            </a:pPr>
            <a:r>
              <a:rPr lang="en-US" b="true" sz="802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BUT DU PORJET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75142"/>
            <a:ext cx="11161767" cy="421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3091" indent="-376545" lvl="1">
              <a:lnSpc>
                <a:spcPts val="4813"/>
              </a:lnSpc>
              <a:spcBef>
                <a:spcPct val="0"/>
              </a:spcBef>
              <a:buFont typeface="Arial"/>
              <a:buChar char="•"/>
            </a:pPr>
            <a:r>
              <a:rPr lang="en-US" sz="348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Travail demandé : Appli</a:t>
            </a:r>
            <a:r>
              <a:rPr lang="en-US" sz="348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cation PyQt5 pour le calcul analytique des performances électromagnétiques d’une machine asynchrone a cage (Validation par éléments finis : femm).</a:t>
            </a:r>
          </a:p>
          <a:p>
            <a:pPr algn="just" marL="753091" indent="-376545" lvl="1">
              <a:lnSpc>
                <a:spcPts val="4813"/>
              </a:lnSpc>
              <a:spcBef>
                <a:spcPct val="0"/>
              </a:spcBef>
              <a:buFont typeface="Arial"/>
              <a:buChar char="•"/>
            </a:pPr>
            <a:r>
              <a:rPr lang="en-US" sz="348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Pour réaliser ceci, on va se baser sur les formules de Maxwell afin de créer un modèle analytique de la machine 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31327" y="597505"/>
            <a:ext cx="9077445" cy="9077445"/>
          </a:xfrm>
          <a:custGeom>
            <a:avLst/>
            <a:gdLst/>
            <a:ahLst/>
            <a:cxnLst/>
            <a:rect r="r" b="b" t="t" l="l"/>
            <a:pathLst>
              <a:path h="9077445" w="9077445">
                <a:moveTo>
                  <a:pt x="0" y="0"/>
                </a:moveTo>
                <a:lnTo>
                  <a:pt x="9077444" y="0"/>
                </a:lnTo>
                <a:lnTo>
                  <a:pt x="9077444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41290" y="616796"/>
            <a:ext cx="9405421" cy="122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25"/>
              </a:lnSpc>
              <a:spcBef>
                <a:spcPct val="0"/>
              </a:spcBef>
            </a:pPr>
            <a:r>
              <a:rPr lang="en-US" b="true" sz="8020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PLAN DE TRAVAIL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62143" y="2346844"/>
            <a:ext cx="7417917" cy="6911456"/>
            <a:chOff x="0" y="0"/>
            <a:chExt cx="2815713" cy="26234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15713" cy="2623469"/>
            </a:xfrm>
            <a:custGeom>
              <a:avLst/>
              <a:gdLst/>
              <a:ahLst/>
              <a:cxnLst/>
              <a:rect r="r" b="b" t="t" l="l"/>
              <a:pathLst>
                <a:path h="2623469" w="2815713">
                  <a:moveTo>
                    <a:pt x="62621" y="0"/>
                  </a:moveTo>
                  <a:lnTo>
                    <a:pt x="2753093" y="0"/>
                  </a:lnTo>
                  <a:cubicBezTo>
                    <a:pt x="2769701" y="0"/>
                    <a:pt x="2785629" y="6598"/>
                    <a:pt x="2797372" y="18341"/>
                  </a:cubicBezTo>
                  <a:cubicBezTo>
                    <a:pt x="2809116" y="30085"/>
                    <a:pt x="2815713" y="46013"/>
                    <a:pt x="2815713" y="62621"/>
                  </a:cubicBezTo>
                  <a:lnTo>
                    <a:pt x="2815713" y="2560849"/>
                  </a:lnTo>
                  <a:cubicBezTo>
                    <a:pt x="2815713" y="2577457"/>
                    <a:pt x="2809116" y="2593385"/>
                    <a:pt x="2797372" y="2605128"/>
                  </a:cubicBezTo>
                  <a:cubicBezTo>
                    <a:pt x="2785629" y="2616872"/>
                    <a:pt x="2769701" y="2623469"/>
                    <a:pt x="2753093" y="2623469"/>
                  </a:cubicBezTo>
                  <a:lnTo>
                    <a:pt x="62621" y="2623469"/>
                  </a:lnTo>
                  <a:cubicBezTo>
                    <a:pt x="28036" y="2623469"/>
                    <a:pt x="0" y="2595433"/>
                    <a:pt x="0" y="2560849"/>
                  </a:cubicBezTo>
                  <a:lnTo>
                    <a:pt x="0" y="62621"/>
                  </a:lnTo>
                  <a:cubicBezTo>
                    <a:pt x="0" y="46013"/>
                    <a:pt x="6598" y="30085"/>
                    <a:pt x="18341" y="18341"/>
                  </a:cubicBezTo>
                  <a:cubicBezTo>
                    <a:pt x="30085" y="6598"/>
                    <a:pt x="46013" y="0"/>
                    <a:pt x="62621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15713" cy="266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14610" y="2707527"/>
            <a:ext cx="6112982" cy="71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35"/>
              </a:lnSpc>
              <a:spcBef>
                <a:spcPct val="0"/>
              </a:spcBef>
            </a:pPr>
            <a:r>
              <a:rPr lang="en-US" b="true" sz="4613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THEORIE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37790" y="2346844"/>
            <a:ext cx="7323303" cy="6803171"/>
            <a:chOff x="0" y="0"/>
            <a:chExt cx="2779799" cy="2582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79799" cy="2582366"/>
            </a:xfrm>
            <a:custGeom>
              <a:avLst/>
              <a:gdLst/>
              <a:ahLst/>
              <a:cxnLst/>
              <a:rect r="r" b="b" t="t" l="l"/>
              <a:pathLst>
                <a:path h="2582366" w="2779799">
                  <a:moveTo>
                    <a:pt x="63430" y="0"/>
                  </a:moveTo>
                  <a:lnTo>
                    <a:pt x="2716370" y="0"/>
                  </a:lnTo>
                  <a:cubicBezTo>
                    <a:pt x="2751401" y="0"/>
                    <a:pt x="2779799" y="28398"/>
                    <a:pt x="2779799" y="63430"/>
                  </a:cubicBezTo>
                  <a:lnTo>
                    <a:pt x="2779799" y="2518937"/>
                  </a:lnTo>
                  <a:cubicBezTo>
                    <a:pt x="2779799" y="2553968"/>
                    <a:pt x="2751401" y="2582366"/>
                    <a:pt x="2716370" y="2582366"/>
                  </a:cubicBezTo>
                  <a:lnTo>
                    <a:pt x="63430" y="2582366"/>
                  </a:lnTo>
                  <a:cubicBezTo>
                    <a:pt x="28398" y="2582366"/>
                    <a:pt x="0" y="2553968"/>
                    <a:pt x="0" y="2518937"/>
                  </a:cubicBezTo>
                  <a:lnTo>
                    <a:pt x="0" y="63430"/>
                  </a:lnTo>
                  <a:cubicBezTo>
                    <a:pt x="0" y="28398"/>
                    <a:pt x="28398" y="0"/>
                    <a:pt x="63430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79799" cy="2620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52855" y="2707527"/>
            <a:ext cx="6112982" cy="71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35"/>
              </a:lnSpc>
              <a:spcBef>
                <a:spcPct val="0"/>
              </a:spcBef>
            </a:pPr>
            <a:r>
              <a:rPr lang="en-US" b="true" sz="4613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APPLICATION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1311" y="3934347"/>
            <a:ext cx="6877702" cy="4413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Présentation des différentes régions.</a:t>
            </a:r>
          </a:p>
          <a:p>
            <a:pPr algn="just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Equations de passage.</a:t>
            </a:r>
          </a:p>
          <a:p>
            <a:pPr algn="just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Les équations de chaque région.</a:t>
            </a:r>
          </a:p>
          <a:p>
            <a:pPr algn="just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Formulation des equations et la matrice.</a:t>
            </a:r>
          </a:p>
          <a:p>
            <a:pPr algn="just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Les equations de calcul des paramètres.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2990" y="3934347"/>
            <a:ext cx="6877702" cy="275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Présentation des résultats pour   l’essai à vide</a:t>
            </a: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  <a:p>
            <a:pPr algn="just" marL="690881" indent="-345440" lvl="1">
              <a:lnSpc>
                <a:spcPts val="4416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Présentation des résultats pour l’essai à rotor bloqué</a:t>
            </a:r>
            <a:r>
              <a:rPr lang="en-US" sz="3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just">
              <a:lnSpc>
                <a:spcPts val="441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286157" y="0"/>
            <a:ext cx="15430157" cy="10545890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464" t="0" r="-21464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944113" y="4051481"/>
            <a:ext cx="8457192" cy="99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THEORIE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9219" y="3981018"/>
            <a:ext cx="4623181" cy="3119559"/>
            <a:chOff x="0" y="0"/>
            <a:chExt cx="1754880" cy="1184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4880" cy="1184131"/>
            </a:xfrm>
            <a:custGeom>
              <a:avLst/>
              <a:gdLst/>
              <a:ahLst/>
              <a:cxnLst/>
              <a:rect r="r" b="b" t="t" l="l"/>
              <a:pathLst>
                <a:path h="1184131" w="1754880">
                  <a:moveTo>
                    <a:pt x="100475" y="0"/>
                  </a:moveTo>
                  <a:lnTo>
                    <a:pt x="1654404" y="0"/>
                  </a:lnTo>
                  <a:cubicBezTo>
                    <a:pt x="1709895" y="0"/>
                    <a:pt x="1754880" y="44984"/>
                    <a:pt x="1754880" y="100475"/>
                  </a:cubicBezTo>
                  <a:lnTo>
                    <a:pt x="1754880" y="1083656"/>
                  </a:lnTo>
                  <a:cubicBezTo>
                    <a:pt x="1754880" y="1139147"/>
                    <a:pt x="1709895" y="1184131"/>
                    <a:pt x="1654404" y="1184131"/>
                  </a:cubicBezTo>
                  <a:lnTo>
                    <a:pt x="100475" y="1184131"/>
                  </a:lnTo>
                  <a:cubicBezTo>
                    <a:pt x="44984" y="1184131"/>
                    <a:pt x="0" y="1139147"/>
                    <a:pt x="0" y="1083656"/>
                  </a:cubicBezTo>
                  <a:lnTo>
                    <a:pt x="0" y="100475"/>
                  </a:lnTo>
                  <a:cubicBezTo>
                    <a:pt x="0" y="44984"/>
                    <a:pt x="44984" y="0"/>
                    <a:pt x="100475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54880" cy="1222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4319" y="4439072"/>
            <a:ext cx="6112982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55"/>
              </a:lnSpc>
              <a:spcBef>
                <a:spcPct val="0"/>
              </a:spcBef>
            </a:pPr>
            <a:r>
              <a:rPr lang="en-US" b="true" sz="5213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1</a:t>
            </a:r>
          </a:p>
        </p:txBody>
      </p:sp>
      <p:sp>
        <p:nvSpPr>
          <p:cNvPr name="AutoShape 6" id="6"/>
          <p:cNvSpPr/>
          <p:nvPr/>
        </p:nvSpPr>
        <p:spPr>
          <a:xfrm>
            <a:off x="2642761" y="5516985"/>
            <a:ext cx="2816098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94319" y="5964808"/>
            <a:ext cx="6112982" cy="5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40"/>
              </a:lnSpc>
              <a:spcBef>
                <a:spcPct val="0"/>
              </a:spcBef>
            </a:pPr>
            <a:r>
              <a:rPr lang="en-US" b="true" sz="3700">
                <a:solidFill>
                  <a:srgbClr val="CFF4FF"/>
                </a:solidFill>
                <a:latin typeface="DM Sans Bold"/>
                <a:ea typeface="DM Sans Bold"/>
                <a:cs typeface="DM Sans Bold"/>
                <a:sym typeface="DM Sans Bold"/>
              </a:rPr>
              <a:t>ENTREFER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832409" y="3981018"/>
            <a:ext cx="4623181" cy="3119559"/>
            <a:chOff x="0" y="0"/>
            <a:chExt cx="1754880" cy="11841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4880" cy="1184131"/>
            </a:xfrm>
            <a:custGeom>
              <a:avLst/>
              <a:gdLst/>
              <a:ahLst/>
              <a:cxnLst/>
              <a:rect r="r" b="b" t="t" l="l"/>
              <a:pathLst>
                <a:path h="1184131" w="1754880">
                  <a:moveTo>
                    <a:pt x="100475" y="0"/>
                  </a:moveTo>
                  <a:lnTo>
                    <a:pt x="1654404" y="0"/>
                  </a:lnTo>
                  <a:cubicBezTo>
                    <a:pt x="1709895" y="0"/>
                    <a:pt x="1754880" y="44984"/>
                    <a:pt x="1754880" y="100475"/>
                  </a:cubicBezTo>
                  <a:lnTo>
                    <a:pt x="1754880" y="1083656"/>
                  </a:lnTo>
                  <a:cubicBezTo>
                    <a:pt x="1754880" y="1139147"/>
                    <a:pt x="1709895" y="1184131"/>
                    <a:pt x="1654404" y="1184131"/>
                  </a:cubicBezTo>
                  <a:lnTo>
                    <a:pt x="100475" y="1184131"/>
                  </a:lnTo>
                  <a:cubicBezTo>
                    <a:pt x="44984" y="1184131"/>
                    <a:pt x="0" y="1139147"/>
                    <a:pt x="0" y="1083656"/>
                  </a:cubicBezTo>
                  <a:lnTo>
                    <a:pt x="0" y="100475"/>
                  </a:lnTo>
                  <a:cubicBezTo>
                    <a:pt x="0" y="44984"/>
                    <a:pt x="44984" y="0"/>
                    <a:pt x="100475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54880" cy="1222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087509" y="4368790"/>
            <a:ext cx="6112982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55"/>
              </a:lnSpc>
              <a:spcBef>
                <a:spcPct val="0"/>
              </a:spcBef>
            </a:pPr>
            <a:r>
              <a:rPr lang="en-US" b="true" sz="5213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2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735951" y="5471054"/>
            <a:ext cx="2816098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594475" y="5683833"/>
            <a:ext cx="5099049" cy="11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0"/>
              </a:lnSpc>
            </a:pPr>
            <a:r>
              <a:rPr lang="en-US" b="true" sz="3700">
                <a:solidFill>
                  <a:srgbClr val="CFF4FF"/>
                </a:solidFill>
                <a:latin typeface="DM Sans Bold"/>
                <a:ea typeface="DM Sans Bold"/>
                <a:cs typeface="DM Sans Bold"/>
                <a:sym typeface="DM Sans Bold"/>
              </a:rPr>
              <a:t>ENCOCHES</a:t>
            </a:r>
          </a:p>
          <a:p>
            <a:pPr algn="ctr" marL="0" indent="0" lvl="0">
              <a:lnSpc>
                <a:spcPts val="4440"/>
              </a:lnSpc>
              <a:spcBef>
                <a:spcPct val="0"/>
              </a:spcBef>
            </a:pPr>
            <a:r>
              <a:rPr lang="en-US" b="true" sz="3700">
                <a:solidFill>
                  <a:srgbClr val="CFF4FF"/>
                </a:solidFill>
                <a:latin typeface="DM Sans Bold"/>
                <a:ea typeface="DM Sans Bold"/>
                <a:cs typeface="DM Sans Bold"/>
                <a:sym typeface="DM Sans Bold"/>
              </a:rPr>
              <a:t>ROTORIQUES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925600" y="4050761"/>
            <a:ext cx="4623181" cy="3119559"/>
            <a:chOff x="0" y="0"/>
            <a:chExt cx="1754880" cy="11841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4880" cy="1184131"/>
            </a:xfrm>
            <a:custGeom>
              <a:avLst/>
              <a:gdLst/>
              <a:ahLst/>
              <a:cxnLst/>
              <a:rect r="r" b="b" t="t" l="l"/>
              <a:pathLst>
                <a:path h="1184131" w="1754880">
                  <a:moveTo>
                    <a:pt x="100475" y="0"/>
                  </a:moveTo>
                  <a:lnTo>
                    <a:pt x="1654404" y="0"/>
                  </a:lnTo>
                  <a:cubicBezTo>
                    <a:pt x="1709895" y="0"/>
                    <a:pt x="1754880" y="44984"/>
                    <a:pt x="1754880" y="100475"/>
                  </a:cubicBezTo>
                  <a:lnTo>
                    <a:pt x="1754880" y="1083656"/>
                  </a:lnTo>
                  <a:cubicBezTo>
                    <a:pt x="1754880" y="1139147"/>
                    <a:pt x="1709895" y="1184131"/>
                    <a:pt x="1654404" y="1184131"/>
                  </a:cubicBezTo>
                  <a:lnTo>
                    <a:pt x="100475" y="1184131"/>
                  </a:lnTo>
                  <a:cubicBezTo>
                    <a:pt x="44984" y="1184131"/>
                    <a:pt x="0" y="1139147"/>
                    <a:pt x="0" y="1083656"/>
                  </a:cubicBezTo>
                  <a:lnTo>
                    <a:pt x="0" y="100475"/>
                  </a:lnTo>
                  <a:cubicBezTo>
                    <a:pt x="0" y="44984"/>
                    <a:pt x="44984" y="0"/>
                    <a:pt x="100475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54880" cy="1222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180699" y="4368790"/>
            <a:ext cx="6112982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55"/>
              </a:lnSpc>
              <a:spcBef>
                <a:spcPct val="0"/>
              </a:spcBef>
            </a:pPr>
            <a:r>
              <a:rPr lang="en-US" b="true" sz="5213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3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2829141" y="5494867"/>
            <a:ext cx="2816098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1553921" y="5788447"/>
            <a:ext cx="5366539" cy="11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40"/>
              </a:lnSpc>
              <a:spcBef>
                <a:spcPct val="0"/>
              </a:spcBef>
            </a:pPr>
            <a:r>
              <a:rPr lang="en-US" b="true" sz="3700">
                <a:solidFill>
                  <a:srgbClr val="CFF4FF"/>
                </a:solidFill>
                <a:latin typeface="DM Sans Bold"/>
                <a:ea typeface="DM Sans Bold"/>
                <a:cs typeface="DM Sans Bold"/>
                <a:sym typeface="DM Sans Bold"/>
              </a:rPr>
              <a:t>ENCOCHES STATORIQUES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8028" y="1019175"/>
            <a:ext cx="14851945" cy="98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Présentation des différentes régions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34818" y="2233640"/>
            <a:ext cx="13218364" cy="7133912"/>
            <a:chOff x="0" y="0"/>
            <a:chExt cx="5017463" cy="2707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17463" cy="2707910"/>
            </a:xfrm>
            <a:custGeom>
              <a:avLst/>
              <a:gdLst/>
              <a:ahLst/>
              <a:cxnLst/>
              <a:rect r="r" b="b" t="t" l="l"/>
              <a:pathLst>
                <a:path h="2707910" w="5017463">
                  <a:moveTo>
                    <a:pt x="0" y="0"/>
                  </a:moveTo>
                  <a:lnTo>
                    <a:pt x="5017463" y="0"/>
                  </a:lnTo>
                  <a:lnTo>
                    <a:pt x="5017463" y="2707910"/>
                  </a:lnTo>
                  <a:lnTo>
                    <a:pt x="0" y="270791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17463" cy="2746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43810" y="2233640"/>
            <a:ext cx="12600379" cy="7133912"/>
          </a:xfrm>
          <a:custGeom>
            <a:avLst/>
            <a:gdLst/>
            <a:ahLst/>
            <a:cxnLst/>
            <a:rect r="r" b="b" t="t" l="l"/>
            <a:pathLst>
              <a:path h="7133912" w="12600379">
                <a:moveTo>
                  <a:pt x="0" y="0"/>
                </a:moveTo>
                <a:lnTo>
                  <a:pt x="12600380" y="0"/>
                </a:lnTo>
                <a:lnTo>
                  <a:pt x="12600380" y="7133912"/>
                </a:lnTo>
                <a:lnTo>
                  <a:pt x="0" y="7133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44098" y="1028700"/>
            <a:ext cx="7999803" cy="1042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86"/>
              </a:lnSpc>
              <a:spcBef>
                <a:spcPct val="0"/>
              </a:spcBef>
            </a:pPr>
            <a:r>
              <a:rPr lang="en-US" b="true" sz="6822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LES RÉGIONS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45237" y="3358888"/>
            <a:ext cx="14006220" cy="5899412"/>
            <a:chOff x="0" y="0"/>
            <a:chExt cx="5316520" cy="22393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6520" cy="2239315"/>
            </a:xfrm>
            <a:custGeom>
              <a:avLst/>
              <a:gdLst/>
              <a:ahLst/>
              <a:cxnLst/>
              <a:rect r="r" b="b" t="t" l="l"/>
              <a:pathLst>
                <a:path h="2239315" w="5316520">
                  <a:moveTo>
                    <a:pt x="33165" y="0"/>
                  </a:moveTo>
                  <a:lnTo>
                    <a:pt x="5283355" y="0"/>
                  </a:lnTo>
                  <a:cubicBezTo>
                    <a:pt x="5301671" y="0"/>
                    <a:pt x="5316520" y="14848"/>
                    <a:pt x="5316520" y="33165"/>
                  </a:cubicBezTo>
                  <a:lnTo>
                    <a:pt x="5316520" y="2206150"/>
                  </a:lnTo>
                  <a:cubicBezTo>
                    <a:pt x="5316520" y="2214946"/>
                    <a:pt x="5313026" y="2223382"/>
                    <a:pt x="5306806" y="2229601"/>
                  </a:cubicBezTo>
                  <a:cubicBezTo>
                    <a:pt x="5300586" y="2235821"/>
                    <a:pt x="5292151" y="2239315"/>
                    <a:pt x="5283355" y="2239315"/>
                  </a:cubicBezTo>
                  <a:lnTo>
                    <a:pt x="33165" y="2239315"/>
                  </a:lnTo>
                  <a:cubicBezTo>
                    <a:pt x="14848" y="2239315"/>
                    <a:pt x="0" y="2224467"/>
                    <a:pt x="0" y="2206150"/>
                  </a:cubicBezTo>
                  <a:lnTo>
                    <a:pt x="0" y="33165"/>
                  </a:lnTo>
                  <a:cubicBezTo>
                    <a:pt x="0" y="14848"/>
                    <a:pt x="14848" y="0"/>
                    <a:pt x="3316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16520" cy="2277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78460" y="4482755"/>
            <a:ext cx="11339774" cy="2711173"/>
          </a:xfrm>
          <a:custGeom>
            <a:avLst/>
            <a:gdLst/>
            <a:ahLst/>
            <a:cxnLst/>
            <a:rect r="r" b="b" t="t" l="l"/>
            <a:pathLst>
              <a:path h="2711173" w="11339774">
                <a:moveTo>
                  <a:pt x="0" y="0"/>
                </a:moveTo>
                <a:lnTo>
                  <a:pt x="11339775" y="0"/>
                </a:lnTo>
                <a:lnTo>
                  <a:pt x="11339775" y="2711173"/>
                </a:lnTo>
                <a:lnTo>
                  <a:pt x="0" y="2711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36542" y="2429274"/>
            <a:ext cx="11161767" cy="591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13"/>
              </a:lnSpc>
              <a:spcBef>
                <a:spcPct val="0"/>
              </a:spcBef>
            </a:pPr>
            <a:r>
              <a:rPr lang="en-US" sz="348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 aboutit à l’équation suivante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08288" y="1204185"/>
            <a:ext cx="7999803" cy="103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86"/>
              </a:lnSpc>
              <a:spcBef>
                <a:spcPct val="0"/>
              </a:spcBef>
            </a:pPr>
            <a:r>
              <a:rPr lang="en-US" b="true" sz="6822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EQUATION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45237" y="3358888"/>
            <a:ext cx="14006220" cy="5899412"/>
            <a:chOff x="0" y="0"/>
            <a:chExt cx="5316520" cy="22393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6520" cy="2239315"/>
            </a:xfrm>
            <a:custGeom>
              <a:avLst/>
              <a:gdLst/>
              <a:ahLst/>
              <a:cxnLst/>
              <a:rect r="r" b="b" t="t" l="l"/>
              <a:pathLst>
                <a:path h="2239315" w="5316520">
                  <a:moveTo>
                    <a:pt x="33165" y="0"/>
                  </a:moveTo>
                  <a:lnTo>
                    <a:pt x="5283355" y="0"/>
                  </a:lnTo>
                  <a:cubicBezTo>
                    <a:pt x="5301671" y="0"/>
                    <a:pt x="5316520" y="14848"/>
                    <a:pt x="5316520" y="33165"/>
                  </a:cubicBezTo>
                  <a:lnTo>
                    <a:pt x="5316520" y="2206150"/>
                  </a:lnTo>
                  <a:cubicBezTo>
                    <a:pt x="5316520" y="2214946"/>
                    <a:pt x="5313026" y="2223382"/>
                    <a:pt x="5306806" y="2229601"/>
                  </a:cubicBezTo>
                  <a:cubicBezTo>
                    <a:pt x="5300586" y="2235821"/>
                    <a:pt x="5292151" y="2239315"/>
                    <a:pt x="5283355" y="2239315"/>
                  </a:cubicBezTo>
                  <a:lnTo>
                    <a:pt x="33165" y="2239315"/>
                  </a:lnTo>
                  <a:cubicBezTo>
                    <a:pt x="14848" y="2239315"/>
                    <a:pt x="0" y="2224467"/>
                    <a:pt x="0" y="2206150"/>
                  </a:cubicBezTo>
                  <a:lnTo>
                    <a:pt x="0" y="33165"/>
                  </a:lnTo>
                  <a:cubicBezTo>
                    <a:pt x="0" y="14848"/>
                    <a:pt x="14848" y="0"/>
                    <a:pt x="3316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16520" cy="2277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97718" y="3823429"/>
            <a:ext cx="11301259" cy="4675896"/>
          </a:xfrm>
          <a:custGeom>
            <a:avLst/>
            <a:gdLst/>
            <a:ahLst/>
            <a:cxnLst/>
            <a:rect r="r" b="b" t="t" l="l"/>
            <a:pathLst>
              <a:path h="4675896" w="11301259">
                <a:moveTo>
                  <a:pt x="0" y="0"/>
                </a:moveTo>
                <a:lnTo>
                  <a:pt x="11301259" y="0"/>
                </a:lnTo>
                <a:lnTo>
                  <a:pt x="11301259" y="4675896"/>
                </a:lnTo>
                <a:lnTo>
                  <a:pt x="0" y="4675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36542" y="2429274"/>
            <a:ext cx="11161767" cy="591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13"/>
              </a:lnSpc>
              <a:spcBef>
                <a:spcPct val="0"/>
              </a:spcBef>
            </a:pPr>
            <a:r>
              <a:rPr lang="en-US" sz="348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 aboutit à l’équation suivante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08288" y="1204185"/>
            <a:ext cx="7999803" cy="103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86"/>
              </a:lnSpc>
              <a:spcBef>
                <a:spcPct val="0"/>
              </a:spcBef>
            </a:pPr>
            <a:r>
              <a:rPr lang="en-US" b="true" sz="6822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EQUATION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45237" y="3358888"/>
            <a:ext cx="14006220" cy="5899412"/>
            <a:chOff x="0" y="0"/>
            <a:chExt cx="5316520" cy="22393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6520" cy="2239315"/>
            </a:xfrm>
            <a:custGeom>
              <a:avLst/>
              <a:gdLst/>
              <a:ahLst/>
              <a:cxnLst/>
              <a:rect r="r" b="b" t="t" l="l"/>
              <a:pathLst>
                <a:path h="2239315" w="5316520">
                  <a:moveTo>
                    <a:pt x="33165" y="0"/>
                  </a:moveTo>
                  <a:lnTo>
                    <a:pt x="5283355" y="0"/>
                  </a:lnTo>
                  <a:cubicBezTo>
                    <a:pt x="5301671" y="0"/>
                    <a:pt x="5316520" y="14848"/>
                    <a:pt x="5316520" y="33165"/>
                  </a:cubicBezTo>
                  <a:lnTo>
                    <a:pt x="5316520" y="2206150"/>
                  </a:lnTo>
                  <a:cubicBezTo>
                    <a:pt x="5316520" y="2214946"/>
                    <a:pt x="5313026" y="2223382"/>
                    <a:pt x="5306806" y="2229601"/>
                  </a:cubicBezTo>
                  <a:cubicBezTo>
                    <a:pt x="5300586" y="2235821"/>
                    <a:pt x="5292151" y="2239315"/>
                    <a:pt x="5283355" y="2239315"/>
                  </a:cubicBezTo>
                  <a:lnTo>
                    <a:pt x="33165" y="2239315"/>
                  </a:lnTo>
                  <a:cubicBezTo>
                    <a:pt x="14848" y="2239315"/>
                    <a:pt x="0" y="2224467"/>
                    <a:pt x="0" y="2206150"/>
                  </a:cubicBezTo>
                  <a:lnTo>
                    <a:pt x="0" y="33165"/>
                  </a:lnTo>
                  <a:cubicBezTo>
                    <a:pt x="0" y="14848"/>
                    <a:pt x="14848" y="0"/>
                    <a:pt x="3316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16520" cy="2277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61389" y="4456947"/>
            <a:ext cx="13590069" cy="3703294"/>
          </a:xfrm>
          <a:custGeom>
            <a:avLst/>
            <a:gdLst/>
            <a:ahLst/>
            <a:cxnLst/>
            <a:rect r="r" b="b" t="t" l="l"/>
            <a:pathLst>
              <a:path h="3703294" w="13590069">
                <a:moveTo>
                  <a:pt x="0" y="0"/>
                </a:moveTo>
                <a:lnTo>
                  <a:pt x="13590069" y="0"/>
                </a:lnTo>
                <a:lnTo>
                  <a:pt x="13590069" y="3703294"/>
                </a:lnTo>
                <a:lnTo>
                  <a:pt x="0" y="3703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44098" y="1028700"/>
            <a:ext cx="7999803" cy="103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86"/>
              </a:lnSpc>
              <a:spcBef>
                <a:spcPct val="0"/>
              </a:spcBef>
            </a:pPr>
            <a:r>
              <a:rPr lang="en-US" sz="6822">
                <a:solidFill>
                  <a:srgbClr val="56AEFF"/>
                </a:solidFill>
                <a:latin typeface="Now"/>
                <a:ea typeface="Now"/>
                <a:cs typeface="Now"/>
                <a:sym typeface="Now"/>
              </a:rPr>
              <a:t>HYPOTHÈSES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45237" y="3358888"/>
            <a:ext cx="14006220" cy="5899412"/>
            <a:chOff x="0" y="0"/>
            <a:chExt cx="5316520" cy="22393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6520" cy="2239315"/>
            </a:xfrm>
            <a:custGeom>
              <a:avLst/>
              <a:gdLst/>
              <a:ahLst/>
              <a:cxnLst/>
              <a:rect r="r" b="b" t="t" l="l"/>
              <a:pathLst>
                <a:path h="2239315" w="5316520">
                  <a:moveTo>
                    <a:pt x="33165" y="0"/>
                  </a:moveTo>
                  <a:lnTo>
                    <a:pt x="5283355" y="0"/>
                  </a:lnTo>
                  <a:cubicBezTo>
                    <a:pt x="5301671" y="0"/>
                    <a:pt x="5316520" y="14848"/>
                    <a:pt x="5316520" y="33165"/>
                  </a:cubicBezTo>
                  <a:lnTo>
                    <a:pt x="5316520" y="2206150"/>
                  </a:lnTo>
                  <a:cubicBezTo>
                    <a:pt x="5316520" y="2214946"/>
                    <a:pt x="5313026" y="2223382"/>
                    <a:pt x="5306806" y="2229601"/>
                  </a:cubicBezTo>
                  <a:cubicBezTo>
                    <a:pt x="5300586" y="2235821"/>
                    <a:pt x="5292151" y="2239315"/>
                    <a:pt x="5283355" y="2239315"/>
                  </a:cubicBezTo>
                  <a:lnTo>
                    <a:pt x="33165" y="2239315"/>
                  </a:lnTo>
                  <a:cubicBezTo>
                    <a:pt x="14848" y="2239315"/>
                    <a:pt x="0" y="2224467"/>
                    <a:pt x="0" y="2206150"/>
                  </a:cubicBezTo>
                  <a:lnTo>
                    <a:pt x="0" y="33165"/>
                  </a:lnTo>
                  <a:cubicBezTo>
                    <a:pt x="0" y="14848"/>
                    <a:pt x="14848" y="0"/>
                    <a:pt x="3316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16520" cy="2277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62692" y="3981518"/>
            <a:ext cx="13588766" cy="4654152"/>
          </a:xfrm>
          <a:custGeom>
            <a:avLst/>
            <a:gdLst/>
            <a:ahLst/>
            <a:cxnLst/>
            <a:rect r="r" b="b" t="t" l="l"/>
            <a:pathLst>
              <a:path h="4654152" w="13588766">
                <a:moveTo>
                  <a:pt x="0" y="0"/>
                </a:moveTo>
                <a:lnTo>
                  <a:pt x="13588766" y="0"/>
                </a:lnTo>
                <a:lnTo>
                  <a:pt x="13588766" y="4654152"/>
                </a:lnTo>
                <a:lnTo>
                  <a:pt x="0" y="4654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48446" y="1028700"/>
            <a:ext cx="7999803" cy="103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86"/>
              </a:lnSpc>
              <a:spcBef>
                <a:spcPct val="0"/>
              </a:spcBef>
            </a:pPr>
            <a:r>
              <a:rPr lang="en-US" sz="6822">
                <a:solidFill>
                  <a:srgbClr val="56AEFF"/>
                </a:solidFill>
                <a:latin typeface="Now"/>
                <a:ea typeface="Now"/>
                <a:cs typeface="Now"/>
                <a:sym typeface="Now"/>
              </a:rPr>
              <a:t>HYPOTHÈSES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68685" y="1126681"/>
            <a:ext cx="2646518" cy="1785777"/>
            <a:chOff x="0" y="0"/>
            <a:chExt cx="1754880" cy="1184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4880" cy="1184131"/>
            </a:xfrm>
            <a:custGeom>
              <a:avLst/>
              <a:gdLst/>
              <a:ahLst/>
              <a:cxnLst/>
              <a:rect r="r" b="b" t="t" l="l"/>
              <a:pathLst>
                <a:path h="1184131" w="1754880">
                  <a:moveTo>
                    <a:pt x="175519" y="0"/>
                  </a:moveTo>
                  <a:lnTo>
                    <a:pt x="1579360" y="0"/>
                  </a:lnTo>
                  <a:cubicBezTo>
                    <a:pt x="1676297" y="0"/>
                    <a:pt x="1754880" y="78583"/>
                    <a:pt x="1754880" y="175519"/>
                  </a:cubicBezTo>
                  <a:lnTo>
                    <a:pt x="1754880" y="1008611"/>
                  </a:lnTo>
                  <a:cubicBezTo>
                    <a:pt x="1754880" y="1105548"/>
                    <a:pt x="1676297" y="1184131"/>
                    <a:pt x="1579360" y="1184131"/>
                  </a:cubicBezTo>
                  <a:lnTo>
                    <a:pt x="175519" y="1184131"/>
                  </a:lnTo>
                  <a:cubicBezTo>
                    <a:pt x="78583" y="1184131"/>
                    <a:pt x="0" y="1105548"/>
                    <a:pt x="0" y="1008611"/>
                  </a:cubicBezTo>
                  <a:lnTo>
                    <a:pt x="0" y="175519"/>
                  </a:lnTo>
                  <a:cubicBezTo>
                    <a:pt x="0" y="78583"/>
                    <a:pt x="78583" y="0"/>
                    <a:pt x="175519" y="0"/>
                  </a:cubicBezTo>
                  <a:close/>
                </a:path>
              </a:pathLst>
            </a:custGeom>
            <a:solidFill>
              <a:srgbClr val="051D40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54880" cy="1222231"/>
            </a:xfrm>
            <a:prstGeom prst="rect">
              <a:avLst/>
            </a:prstGeom>
          </p:spPr>
          <p:txBody>
            <a:bodyPr anchor="ctr" rtlCol="false" tIns="29080" lIns="29080" bIns="29080" rIns="2908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885913" y="2005938"/>
            <a:ext cx="1612062" cy="0"/>
          </a:xfrm>
          <a:prstGeom prst="line">
            <a:avLst/>
          </a:prstGeom>
          <a:ln cap="flat" w="28575">
            <a:solidFill>
              <a:srgbClr val="39B5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684537" y="1126681"/>
            <a:ext cx="2918926" cy="1785777"/>
            <a:chOff x="0" y="0"/>
            <a:chExt cx="1935511" cy="1184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5511" cy="1184131"/>
            </a:xfrm>
            <a:custGeom>
              <a:avLst/>
              <a:gdLst/>
              <a:ahLst/>
              <a:cxnLst/>
              <a:rect r="r" b="b" t="t" l="l"/>
              <a:pathLst>
                <a:path h="1184131" w="1935511">
                  <a:moveTo>
                    <a:pt x="159139" y="0"/>
                  </a:moveTo>
                  <a:lnTo>
                    <a:pt x="1776372" y="0"/>
                  </a:lnTo>
                  <a:cubicBezTo>
                    <a:pt x="1818578" y="0"/>
                    <a:pt x="1859056" y="16766"/>
                    <a:pt x="1888900" y="46611"/>
                  </a:cubicBezTo>
                  <a:cubicBezTo>
                    <a:pt x="1918745" y="76455"/>
                    <a:pt x="1935511" y="116933"/>
                    <a:pt x="1935511" y="159139"/>
                  </a:cubicBezTo>
                  <a:lnTo>
                    <a:pt x="1935511" y="1024992"/>
                  </a:lnTo>
                  <a:cubicBezTo>
                    <a:pt x="1935511" y="1067198"/>
                    <a:pt x="1918745" y="1107676"/>
                    <a:pt x="1888900" y="1137520"/>
                  </a:cubicBezTo>
                  <a:cubicBezTo>
                    <a:pt x="1859056" y="1167365"/>
                    <a:pt x="1818578" y="1184131"/>
                    <a:pt x="1776372" y="1184131"/>
                  </a:cubicBezTo>
                  <a:lnTo>
                    <a:pt x="159139" y="1184131"/>
                  </a:lnTo>
                  <a:cubicBezTo>
                    <a:pt x="116933" y="1184131"/>
                    <a:pt x="76455" y="1167365"/>
                    <a:pt x="46611" y="1137520"/>
                  </a:cubicBezTo>
                  <a:cubicBezTo>
                    <a:pt x="16766" y="1107676"/>
                    <a:pt x="0" y="1067198"/>
                    <a:pt x="0" y="1024992"/>
                  </a:cubicBezTo>
                  <a:lnTo>
                    <a:pt x="0" y="159139"/>
                  </a:lnTo>
                  <a:cubicBezTo>
                    <a:pt x="0" y="116933"/>
                    <a:pt x="16766" y="76455"/>
                    <a:pt x="46611" y="46611"/>
                  </a:cubicBezTo>
                  <a:cubicBezTo>
                    <a:pt x="76455" y="16766"/>
                    <a:pt x="116933" y="0"/>
                    <a:pt x="159139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5511" cy="1222231"/>
            </a:xfrm>
            <a:prstGeom prst="rect">
              <a:avLst/>
            </a:prstGeom>
          </p:spPr>
          <p:txBody>
            <a:bodyPr anchor="ctr" rtlCol="false" tIns="29080" lIns="29080" bIns="29080" rIns="2908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8337969" y="1979645"/>
            <a:ext cx="161206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2020835" y="1126681"/>
            <a:ext cx="3072049" cy="1785777"/>
            <a:chOff x="0" y="0"/>
            <a:chExt cx="2037046" cy="11841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7046" cy="1184131"/>
            </a:xfrm>
            <a:custGeom>
              <a:avLst/>
              <a:gdLst/>
              <a:ahLst/>
              <a:cxnLst/>
              <a:rect r="r" b="b" t="t" l="l"/>
              <a:pathLst>
                <a:path h="1184131" w="2037046">
                  <a:moveTo>
                    <a:pt x="151207" y="0"/>
                  </a:moveTo>
                  <a:lnTo>
                    <a:pt x="1885839" y="0"/>
                  </a:lnTo>
                  <a:cubicBezTo>
                    <a:pt x="1969348" y="0"/>
                    <a:pt x="2037046" y="67698"/>
                    <a:pt x="2037046" y="151207"/>
                  </a:cubicBezTo>
                  <a:lnTo>
                    <a:pt x="2037046" y="1032924"/>
                  </a:lnTo>
                  <a:cubicBezTo>
                    <a:pt x="2037046" y="1116433"/>
                    <a:pt x="1969348" y="1184131"/>
                    <a:pt x="1885839" y="1184131"/>
                  </a:cubicBezTo>
                  <a:lnTo>
                    <a:pt x="151207" y="1184131"/>
                  </a:lnTo>
                  <a:cubicBezTo>
                    <a:pt x="67698" y="1184131"/>
                    <a:pt x="0" y="1116433"/>
                    <a:pt x="0" y="1032924"/>
                  </a:cubicBezTo>
                  <a:lnTo>
                    <a:pt x="0" y="151207"/>
                  </a:lnTo>
                  <a:cubicBezTo>
                    <a:pt x="0" y="67698"/>
                    <a:pt x="67698" y="0"/>
                    <a:pt x="151207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37046" cy="1222231"/>
            </a:xfrm>
            <a:prstGeom prst="rect">
              <a:avLst/>
            </a:prstGeom>
          </p:spPr>
          <p:txBody>
            <a:bodyPr anchor="ctr" rtlCol="false" tIns="29080" lIns="29080" bIns="29080" rIns="2908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2750829" y="1953352"/>
            <a:ext cx="161206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2140890" y="3260907"/>
            <a:ext cx="14006220" cy="5899412"/>
            <a:chOff x="0" y="0"/>
            <a:chExt cx="5316520" cy="22393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16520" cy="2239315"/>
            </a:xfrm>
            <a:custGeom>
              <a:avLst/>
              <a:gdLst/>
              <a:ahLst/>
              <a:cxnLst/>
              <a:rect r="r" b="b" t="t" l="l"/>
              <a:pathLst>
                <a:path h="2239315" w="5316520">
                  <a:moveTo>
                    <a:pt x="33165" y="0"/>
                  </a:moveTo>
                  <a:lnTo>
                    <a:pt x="5283355" y="0"/>
                  </a:lnTo>
                  <a:cubicBezTo>
                    <a:pt x="5301671" y="0"/>
                    <a:pt x="5316520" y="14848"/>
                    <a:pt x="5316520" y="33165"/>
                  </a:cubicBezTo>
                  <a:lnTo>
                    <a:pt x="5316520" y="2206150"/>
                  </a:lnTo>
                  <a:cubicBezTo>
                    <a:pt x="5316520" y="2214946"/>
                    <a:pt x="5313026" y="2223382"/>
                    <a:pt x="5306806" y="2229601"/>
                  </a:cubicBezTo>
                  <a:cubicBezTo>
                    <a:pt x="5300586" y="2235821"/>
                    <a:pt x="5292151" y="2239315"/>
                    <a:pt x="5283355" y="2239315"/>
                  </a:cubicBezTo>
                  <a:lnTo>
                    <a:pt x="33165" y="2239315"/>
                  </a:lnTo>
                  <a:cubicBezTo>
                    <a:pt x="14848" y="2239315"/>
                    <a:pt x="0" y="2224467"/>
                    <a:pt x="0" y="2206150"/>
                  </a:cubicBezTo>
                  <a:lnTo>
                    <a:pt x="0" y="33165"/>
                  </a:lnTo>
                  <a:cubicBezTo>
                    <a:pt x="0" y="14848"/>
                    <a:pt x="14848" y="0"/>
                    <a:pt x="3316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16520" cy="2277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43712" y="4163081"/>
            <a:ext cx="13600576" cy="4095064"/>
          </a:xfrm>
          <a:custGeom>
            <a:avLst/>
            <a:gdLst/>
            <a:ahLst/>
            <a:cxnLst/>
            <a:rect r="r" b="b" t="t" l="l"/>
            <a:pathLst>
              <a:path h="4095064" w="13600576">
                <a:moveTo>
                  <a:pt x="0" y="0"/>
                </a:moveTo>
                <a:lnTo>
                  <a:pt x="13600576" y="0"/>
                </a:lnTo>
                <a:lnTo>
                  <a:pt x="13600576" y="4095064"/>
                </a:lnTo>
                <a:lnTo>
                  <a:pt x="0" y="4095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4" t="0" r="-1582" b="-470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986010" y="1384820"/>
            <a:ext cx="3499347" cy="46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42271" y="2151810"/>
            <a:ext cx="3499347" cy="46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ENTREFER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94326" y="1344587"/>
            <a:ext cx="3499347" cy="46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84537" y="2059493"/>
            <a:ext cx="2918926" cy="7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7"/>
              </a:lnSpc>
              <a:spcBef>
                <a:spcPct val="0"/>
              </a:spcBef>
            </a:pPr>
            <a:r>
              <a:rPr lang="en-US" b="true" sz="2489">
                <a:solidFill>
                  <a:srgbClr val="CFF4FF"/>
                </a:solidFill>
                <a:latin typeface="DM Sans Bold"/>
                <a:ea typeface="DM Sans Bold"/>
                <a:cs typeface="DM Sans Bold"/>
                <a:sym typeface="DM Sans Bold"/>
              </a:rPr>
              <a:t>BARRES ROTORIQUES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98549" y="1304663"/>
            <a:ext cx="3499347" cy="46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20835" y="2061525"/>
            <a:ext cx="3072049" cy="7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3"/>
              </a:lnSpc>
              <a:spcBef>
                <a:spcPct val="0"/>
              </a:spcBef>
            </a:pPr>
            <a:r>
              <a:rPr lang="en-US" b="true" sz="2619">
                <a:solidFill>
                  <a:srgbClr val="CFF4FF"/>
                </a:solidFill>
                <a:latin typeface="DM Sans Bold"/>
                <a:ea typeface="DM Sans Bold"/>
                <a:cs typeface="DM Sans Bold"/>
                <a:sym typeface="DM Sans Bold"/>
              </a:rPr>
              <a:t>ENCOCHES STATORIQUES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66252" y="2139322"/>
            <a:ext cx="8755497" cy="7634103"/>
          </a:xfrm>
          <a:custGeom>
            <a:avLst/>
            <a:gdLst/>
            <a:ahLst/>
            <a:cxnLst/>
            <a:rect r="r" b="b" t="t" l="l"/>
            <a:pathLst>
              <a:path h="7634103" w="8755497">
                <a:moveTo>
                  <a:pt x="0" y="0"/>
                </a:moveTo>
                <a:lnTo>
                  <a:pt x="8755496" y="0"/>
                </a:lnTo>
                <a:lnTo>
                  <a:pt x="8755496" y="7634103"/>
                </a:lnTo>
                <a:lnTo>
                  <a:pt x="0" y="7634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2450" y="441069"/>
            <a:ext cx="14843101" cy="169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70"/>
              </a:lnSpc>
              <a:spcBef>
                <a:spcPct val="0"/>
              </a:spcBef>
            </a:pPr>
            <a:r>
              <a:rPr lang="en-US" b="true" sz="5558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CONDITIONS AUX LIMITES APPLIQUÉES À L’ENCOCHE ROTORIQUE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14309" y="1168637"/>
            <a:ext cx="2646518" cy="1785777"/>
            <a:chOff x="0" y="0"/>
            <a:chExt cx="1754880" cy="1184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4880" cy="1184131"/>
            </a:xfrm>
            <a:custGeom>
              <a:avLst/>
              <a:gdLst/>
              <a:ahLst/>
              <a:cxnLst/>
              <a:rect r="r" b="b" t="t" l="l"/>
              <a:pathLst>
                <a:path h="1184131" w="1754880">
                  <a:moveTo>
                    <a:pt x="175519" y="0"/>
                  </a:moveTo>
                  <a:lnTo>
                    <a:pt x="1579360" y="0"/>
                  </a:lnTo>
                  <a:cubicBezTo>
                    <a:pt x="1676297" y="0"/>
                    <a:pt x="1754880" y="78583"/>
                    <a:pt x="1754880" y="175519"/>
                  </a:cubicBezTo>
                  <a:lnTo>
                    <a:pt x="1754880" y="1008611"/>
                  </a:lnTo>
                  <a:cubicBezTo>
                    <a:pt x="1754880" y="1105548"/>
                    <a:pt x="1676297" y="1184131"/>
                    <a:pt x="1579360" y="1184131"/>
                  </a:cubicBezTo>
                  <a:lnTo>
                    <a:pt x="175519" y="1184131"/>
                  </a:lnTo>
                  <a:cubicBezTo>
                    <a:pt x="78583" y="1184131"/>
                    <a:pt x="0" y="1105548"/>
                    <a:pt x="0" y="1008611"/>
                  </a:cubicBezTo>
                  <a:lnTo>
                    <a:pt x="0" y="175519"/>
                  </a:lnTo>
                  <a:cubicBezTo>
                    <a:pt x="0" y="78583"/>
                    <a:pt x="78583" y="0"/>
                    <a:pt x="175519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54880" cy="1222231"/>
            </a:xfrm>
            <a:prstGeom prst="rect">
              <a:avLst/>
            </a:prstGeom>
          </p:spPr>
          <p:txBody>
            <a:bodyPr anchor="ctr" rtlCol="false" tIns="29080" lIns="29080" bIns="29080" rIns="2908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885913" y="2005938"/>
            <a:ext cx="161206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820741" y="1126681"/>
            <a:ext cx="2646518" cy="1785777"/>
            <a:chOff x="0" y="0"/>
            <a:chExt cx="1754880" cy="1184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4880" cy="1184131"/>
            </a:xfrm>
            <a:custGeom>
              <a:avLst/>
              <a:gdLst/>
              <a:ahLst/>
              <a:cxnLst/>
              <a:rect r="r" b="b" t="t" l="l"/>
              <a:pathLst>
                <a:path h="1184131" w="1754880">
                  <a:moveTo>
                    <a:pt x="175519" y="0"/>
                  </a:moveTo>
                  <a:lnTo>
                    <a:pt x="1579360" y="0"/>
                  </a:lnTo>
                  <a:cubicBezTo>
                    <a:pt x="1676297" y="0"/>
                    <a:pt x="1754880" y="78583"/>
                    <a:pt x="1754880" y="175519"/>
                  </a:cubicBezTo>
                  <a:lnTo>
                    <a:pt x="1754880" y="1008611"/>
                  </a:lnTo>
                  <a:cubicBezTo>
                    <a:pt x="1754880" y="1105548"/>
                    <a:pt x="1676297" y="1184131"/>
                    <a:pt x="1579360" y="1184131"/>
                  </a:cubicBezTo>
                  <a:lnTo>
                    <a:pt x="175519" y="1184131"/>
                  </a:lnTo>
                  <a:cubicBezTo>
                    <a:pt x="78583" y="1184131"/>
                    <a:pt x="0" y="1105548"/>
                    <a:pt x="0" y="1008611"/>
                  </a:cubicBezTo>
                  <a:lnTo>
                    <a:pt x="0" y="175519"/>
                  </a:lnTo>
                  <a:cubicBezTo>
                    <a:pt x="0" y="78583"/>
                    <a:pt x="78583" y="0"/>
                    <a:pt x="175519" y="0"/>
                  </a:cubicBezTo>
                  <a:close/>
                </a:path>
              </a:pathLst>
            </a:custGeom>
            <a:solidFill>
              <a:srgbClr val="051D40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54880" cy="1222231"/>
            </a:xfrm>
            <a:prstGeom prst="rect">
              <a:avLst/>
            </a:prstGeom>
          </p:spPr>
          <p:txBody>
            <a:bodyPr anchor="ctr" rtlCol="false" tIns="29080" lIns="29080" bIns="29080" rIns="2908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8337969" y="1979645"/>
            <a:ext cx="1612062" cy="0"/>
          </a:xfrm>
          <a:prstGeom prst="line">
            <a:avLst/>
          </a:prstGeom>
          <a:ln cap="flat" w="28575">
            <a:solidFill>
              <a:srgbClr val="39B5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2016075" y="1166605"/>
            <a:ext cx="3064295" cy="1785777"/>
            <a:chOff x="0" y="0"/>
            <a:chExt cx="2031904" cy="11841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1904" cy="1184131"/>
            </a:xfrm>
            <a:custGeom>
              <a:avLst/>
              <a:gdLst/>
              <a:ahLst/>
              <a:cxnLst/>
              <a:rect r="r" b="b" t="t" l="l"/>
              <a:pathLst>
                <a:path h="1184131" w="2031904">
                  <a:moveTo>
                    <a:pt x="151590" y="0"/>
                  </a:moveTo>
                  <a:lnTo>
                    <a:pt x="1880314" y="0"/>
                  </a:lnTo>
                  <a:cubicBezTo>
                    <a:pt x="1964035" y="0"/>
                    <a:pt x="2031904" y="67869"/>
                    <a:pt x="2031904" y="151590"/>
                  </a:cubicBezTo>
                  <a:lnTo>
                    <a:pt x="2031904" y="1032541"/>
                  </a:lnTo>
                  <a:cubicBezTo>
                    <a:pt x="2031904" y="1116262"/>
                    <a:pt x="1964035" y="1184131"/>
                    <a:pt x="1880314" y="1184131"/>
                  </a:cubicBezTo>
                  <a:lnTo>
                    <a:pt x="151590" y="1184131"/>
                  </a:lnTo>
                  <a:cubicBezTo>
                    <a:pt x="67869" y="1184131"/>
                    <a:pt x="0" y="1116262"/>
                    <a:pt x="0" y="1032541"/>
                  </a:cubicBezTo>
                  <a:lnTo>
                    <a:pt x="0" y="151590"/>
                  </a:lnTo>
                  <a:cubicBezTo>
                    <a:pt x="0" y="67869"/>
                    <a:pt x="67869" y="0"/>
                    <a:pt x="151590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31904" cy="1222231"/>
            </a:xfrm>
            <a:prstGeom prst="rect">
              <a:avLst/>
            </a:prstGeom>
          </p:spPr>
          <p:txBody>
            <a:bodyPr anchor="ctr" rtlCol="false" tIns="29080" lIns="29080" bIns="29080" rIns="2908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2742191" y="1953352"/>
            <a:ext cx="161206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2140890" y="3260907"/>
            <a:ext cx="14006220" cy="5899412"/>
            <a:chOff x="0" y="0"/>
            <a:chExt cx="5316520" cy="22393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16520" cy="2239315"/>
            </a:xfrm>
            <a:custGeom>
              <a:avLst/>
              <a:gdLst/>
              <a:ahLst/>
              <a:cxnLst/>
              <a:rect r="r" b="b" t="t" l="l"/>
              <a:pathLst>
                <a:path h="2239315" w="5316520">
                  <a:moveTo>
                    <a:pt x="33165" y="0"/>
                  </a:moveTo>
                  <a:lnTo>
                    <a:pt x="5283355" y="0"/>
                  </a:lnTo>
                  <a:cubicBezTo>
                    <a:pt x="5301671" y="0"/>
                    <a:pt x="5316520" y="14848"/>
                    <a:pt x="5316520" y="33165"/>
                  </a:cubicBezTo>
                  <a:lnTo>
                    <a:pt x="5316520" y="2206150"/>
                  </a:lnTo>
                  <a:cubicBezTo>
                    <a:pt x="5316520" y="2214946"/>
                    <a:pt x="5313026" y="2223382"/>
                    <a:pt x="5306806" y="2229601"/>
                  </a:cubicBezTo>
                  <a:cubicBezTo>
                    <a:pt x="5300586" y="2235821"/>
                    <a:pt x="5292151" y="2239315"/>
                    <a:pt x="5283355" y="2239315"/>
                  </a:cubicBezTo>
                  <a:lnTo>
                    <a:pt x="33165" y="2239315"/>
                  </a:lnTo>
                  <a:cubicBezTo>
                    <a:pt x="14848" y="2239315"/>
                    <a:pt x="0" y="2224467"/>
                    <a:pt x="0" y="2206150"/>
                  </a:cubicBezTo>
                  <a:lnTo>
                    <a:pt x="0" y="33165"/>
                  </a:lnTo>
                  <a:cubicBezTo>
                    <a:pt x="0" y="14848"/>
                    <a:pt x="14848" y="0"/>
                    <a:pt x="3316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16520" cy="2277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037861" y="4665058"/>
            <a:ext cx="10316393" cy="1065172"/>
          </a:xfrm>
          <a:custGeom>
            <a:avLst/>
            <a:gdLst/>
            <a:ahLst/>
            <a:cxnLst/>
            <a:rect r="r" b="b" t="t" l="l"/>
            <a:pathLst>
              <a:path h="1065172" w="10316393">
                <a:moveTo>
                  <a:pt x="0" y="0"/>
                </a:moveTo>
                <a:lnTo>
                  <a:pt x="10316392" y="0"/>
                </a:lnTo>
                <a:lnTo>
                  <a:pt x="10316392" y="1065172"/>
                </a:lnTo>
                <a:lnTo>
                  <a:pt x="0" y="1065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043877" y="5958830"/>
            <a:ext cx="10304359" cy="2457193"/>
          </a:xfrm>
          <a:custGeom>
            <a:avLst/>
            <a:gdLst/>
            <a:ahLst/>
            <a:cxnLst/>
            <a:rect r="r" b="b" t="t" l="l"/>
            <a:pathLst>
              <a:path h="2457193" w="10304359">
                <a:moveTo>
                  <a:pt x="0" y="0"/>
                </a:moveTo>
                <a:lnTo>
                  <a:pt x="10304359" y="0"/>
                </a:lnTo>
                <a:lnTo>
                  <a:pt x="10304359" y="2457194"/>
                </a:lnTo>
                <a:lnTo>
                  <a:pt x="0" y="2457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86010" y="1384820"/>
            <a:ext cx="3499347" cy="46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42271" y="2161335"/>
            <a:ext cx="3499347" cy="4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DM Sans Bold"/>
                <a:ea typeface="DM Sans Bold"/>
                <a:cs typeface="DM Sans Bold"/>
                <a:sym typeface="DM Sans Bold"/>
              </a:rPr>
              <a:t>ENTREFER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94326" y="1344587"/>
            <a:ext cx="3499347" cy="46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52639" y="2059493"/>
            <a:ext cx="2782722" cy="70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7"/>
              </a:lnSpc>
              <a:spcBef>
                <a:spcPct val="0"/>
              </a:spcBef>
            </a:pPr>
            <a:r>
              <a:rPr lang="en-US" b="true" sz="2373">
                <a:solidFill>
                  <a:srgbClr val="CFF4FF"/>
                </a:solidFill>
                <a:latin typeface="DM Sans Bold"/>
                <a:ea typeface="DM Sans Bold"/>
                <a:cs typeface="DM Sans Bold"/>
                <a:sym typeface="DM Sans Bold"/>
              </a:rPr>
              <a:t>BARRES ROTORIQUES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98549" y="1304663"/>
            <a:ext cx="3499347" cy="46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12198" y="2061525"/>
            <a:ext cx="3072049" cy="7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3"/>
              </a:lnSpc>
              <a:spcBef>
                <a:spcPct val="0"/>
              </a:spcBef>
            </a:pPr>
            <a:r>
              <a:rPr lang="en-US" b="true" sz="2619">
                <a:solidFill>
                  <a:srgbClr val="CFF4FF"/>
                </a:solidFill>
                <a:latin typeface="DM Sans Bold"/>
                <a:ea typeface="DM Sans Bold"/>
                <a:cs typeface="DM Sans Bold"/>
                <a:sym typeface="DM Sans Bold"/>
              </a:rPr>
              <a:t>ENCOCHES STATORIQUES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68228" y="3750658"/>
            <a:ext cx="47515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67"/>
              </a:lnSpc>
              <a:spcBef>
                <a:spcPct val="0"/>
              </a:spcBef>
            </a:pPr>
            <a:r>
              <a:rPr lang="en-US" b="true" sz="3473">
                <a:solidFill>
                  <a:srgbClr val="145DA0"/>
                </a:solidFill>
                <a:latin typeface="DM Sans Bold"/>
                <a:ea typeface="DM Sans Bold"/>
                <a:cs typeface="DM Sans Bold"/>
                <a:sym typeface="DM Sans Bold"/>
              </a:rPr>
              <a:t>SAINES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24439" y="2139322"/>
            <a:ext cx="10639122" cy="7666194"/>
          </a:xfrm>
          <a:custGeom>
            <a:avLst/>
            <a:gdLst/>
            <a:ahLst/>
            <a:cxnLst/>
            <a:rect r="r" b="b" t="t" l="l"/>
            <a:pathLst>
              <a:path h="7666194" w="10639122">
                <a:moveTo>
                  <a:pt x="0" y="0"/>
                </a:moveTo>
                <a:lnTo>
                  <a:pt x="10639122" y="0"/>
                </a:lnTo>
                <a:lnTo>
                  <a:pt x="10639122" y="7666195"/>
                </a:lnTo>
                <a:lnTo>
                  <a:pt x="0" y="7666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36" t="-596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71863" y="575144"/>
            <a:ext cx="13144273" cy="1564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43"/>
              </a:lnSpc>
              <a:spcBef>
                <a:spcPct val="0"/>
              </a:spcBef>
            </a:pPr>
            <a:r>
              <a:rPr lang="en-US" b="true" sz="5119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CONDITIONS AUX LIMITES APPLIQUÉES À L’ENCOCHE STATORIQUE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89812" y="1126681"/>
            <a:ext cx="2777641" cy="1785777"/>
            <a:chOff x="0" y="0"/>
            <a:chExt cx="1841826" cy="1184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41826" cy="1184131"/>
            </a:xfrm>
            <a:custGeom>
              <a:avLst/>
              <a:gdLst/>
              <a:ahLst/>
              <a:cxnLst/>
              <a:rect r="r" b="b" t="t" l="l"/>
              <a:pathLst>
                <a:path h="1184131" w="1841826">
                  <a:moveTo>
                    <a:pt x="167234" y="0"/>
                  </a:moveTo>
                  <a:lnTo>
                    <a:pt x="1674593" y="0"/>
                  </a:lnTo>
                  <a:cubicBezTo>
                    <a:pt x="1718946" y="0"/>
                    <a:pt x="1761482" y="17619"/>
                    <a:pt x="1792845" y="48982"/>
                  </a:cubicBezTo>
                  <a:cubicBezTo>
                    <a:pt x="1824207" y="80344"/>
                    <a:pt x="1841826" y="122881"/>
                    <a:pt x="1841826" y="167234"/>
                  </a:cubicBezTo>
                  <a:lnTo>
                    <a:pt x="1841826" y="1016897"/>
                  </a:lnTo>
                  <a:cubicBezTo>
                    <a:pt x="1841826" y="1061250"/>
                    <a:pt x="1824207" y="1103787"/>
                    <a:pt x="1792845" y="1135149"/>
                  </a:cubicBezTo>
                  <a:cubicBezTo>
                    <a:pt x="1761482" y="1166512"/>
                    <a:pt x="1718946" y="1184131"/>
                    <a:pt x="1674593" y="1184131"/>
                  </a:cubicBezTo>
                  <a:lnTo>
                    <a:pt x="167234" y="1184131"/>
                  </a:lnTo>
                  <a:cubicBezTo>
                    <a:pt x="122881" y="1184131"/>
                    <a:pt x="80344" y="1166512"/>
                    <a:pt x="48982" y="1135149"/>
                  </a:cubicBezTo>
                  <a:cubicBezTo>
                    <a:pt x="17619" y="1103787"/>
                    <a:pt x="0" y="1061250"/>
                    <a:pt x="0" y="1016897"/>
                  </a:cubicBezTo>
                  <a:lnTo>
                    <a:pt x="0" y="167234"/>
                  </a:lnTo>
                  <a:cubicBezTo>
                    <a:pt x="0" y="122881"/>
                    <a:pt x="17619" y="80344"/>
                    <a:pt x="48982" y="48982"/>
                  </a:cubicBezTo>
                  <a:cubicBezTo>
                    <a:pt x="80344" y="17619"/>
                    <a:pt x="122881" y="0"/>
                    <a:pt x="167234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41826" cy="1222231"/>
            </a:xfrm>
            <a:prstGeom prst="rect">
              <a:avLst/>
            </a:prstGeom>
          </p:spPr>
          <p:txBody>
            <a:bodyPr anchor="ctr" rtlCol="false" tIns="29080" lIns="29080" bIns="29080" rIns="2908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932667" y="2019569"/>
            <a:ext cx="1691932" cy="0"/>
          </a:xfrm>
          <a:prstGeom prst="line">
            <a:avLst/>
          </a:prstGeom>
          <a:ln cap="flat" w="28575">
            <a:solidFill>
              <a:srgbClr val="CFF4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841853" y="1126681"/>
            <a:ext cx="2777549" cy="1785777"/>
            <a:chOff x="0" y="0"/>
            <a:chExt cx="1841765" cy="1184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1765" cy="1184131"/>
            </a:xfrm>
            <a:custGeom>
              <a:avLst/>
              <a:gdLst/>
              <a:ahLst/>
              <a:cxnLst/>
              <a:rect r="r" b="b" t="t" l="l"/>
              <a:pathLst>
                <a:path h="1184131" w="1841765">
                  <a:moveTo>
                    <a:pt x="167239" y="0"/>
                  </a:moveTo>
                  <a:lnTo>
                    <a:pt x="1674526" y="0"/>
                  </a:lnTo>
                  <a:cubicBezTo>
                    <a:pt x="1766890" y="0"/>
                    <a:pt x="1841765" y="74876"/>
                    <a:pt x="1841765" y="167239"/>
                  </a:cubicBezTo>
                  <a:lnTo>
                    <a:pt x="1841765" y="1016892"/>
                  </a:lnTo>
                  <a:cubicBezTo>
                    <a:pt x="1841765" y="1061246"/>
                    <a:pt x="1824145" y="1103784"/>
                    <a:pt x="1792782" y="1135148"/>
                  </a:cubicBezTo>
                  <a:cubicBezTo>
                    <a:pt x="1761419" y="1166511"/>
                    <a:pt x="1718881" y="1184131"/>
                    <a:pt x="1674526" y="1184131"/>
                  </a:cubicBezTo>
                  <a:lnTo>
                    <a:pt x="167239" y="1184131"/>
                  </a:lnTo>
                  <a:cubicBezTo>
                    <a:pt x="122885" y="1184131"/>
                    <a:pt x="80347" y="1166511"/>
                    <a:pt x="48983" y="1135148"/>
                  </a:cubicBezTo>
                  <a:cubicBezTo>
                    <a:pt x="17620" y="1103784"/>
                    <a:pt x="0" y="1061246"/>
                    <a:pt x="0" y="1016892"/>
                  </a:cubicBezTo>
                  <a:lnTo>
                    <a:pt x="0" y="167239"/>
                  </a:lnTo>
                  <a:cubicBezTo>
                    <a:pt x="0" y="122885"/>
                    <a:pt x="17620" y="80347"/>
                    <a:pt x="48983" y="48983"/>
                  </a:cubicBezTo>
                  <a:cubicBezTo>
                    <a:pt x="80347" y="17620"/>
                    <a:pt x="122885" y="0"/>
                    <a:pt x="167239" y="0"/>
                  </a:cubicBezTo>
                  <a:close/>
                </a:path>
              </a:pathLst>
            </a:custGeom>
            <a:solidFill>
              <a:srgbClr val="145DA0"/>
            </a:solidFill>
            <a:ln w="9525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41765" cy="1222231"/>
            </a:xfrm>
            <a:prstGeom prst="rect">
              <a:avLst/>
            </a:prstGeom>
          </p:spPr>
          <p:txBody>
            <a:bodyPr anchor="ctr" rtlCol="false" tIns="29080" lIns="29080" bIns="29080" rIns="2908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8384690" y="1866844"/>
            <a:ext cx="1691876" cy="0"/>
          </a:xfrm>
          <a:prstGeom prst="line">
            <a:avLst/>
          </a:prstGeom>
          <a:ln cap="flat" w="28575">
            <a:solidFill>
              <a:srgbClr val="CFF4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1960724" y="1126681"/>
            <a:ext cx="3174997" cy="1785777"/>
            <a:chOff x="0" y="0"/>
            <a:chExt cx="2105309" cy="11841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5309" cy="1184131"/>
            </a:xfrm>
            <a:custGeom>
              <a:avLst/>
              <a:gdLst/>
              <a:ahLst/>
              <a:cxnLst/>
              <a:rect r="r" b="b" t="t" l="l"/>
              <a:pathLst>
                <a:path h="1184131" w="2105309">
                  <a:moveTo>
                    <a:pt x="146304" y="0"/>
                  </a:moveTo>
                  <a:lnTo>
                    <a:pt x="1959005" y="0"/>
                  </a:lnTo>
                  <a:cubicBezTo>
                    <a:pt x="1997807" y="0"/>
                    <a:pt x="2035020" y="15414"/>
                    <a:pt x="2062457" y="42851"/>
                  </a:cubicBezTo>
                  <a:cubicBezTo>
                    <a:pt x="2089895" y="70289"/>
                    <a:pt x="2105309" y="107502"/>
                    <a:pt x="2105309" y="146304"/>
                  </a:cubicBezTo>
                  <a:lnTo>
                    <a:pt x="2105309" y="1037827"/>
                  </a:lnTo>
                  <a:cubicBezTo>
                    <a:pt x="2105309" y="1118628"/>
                    <a:pt x="2039806" y="1184131"/>
                    <a:pt x="1959005" y="1184131"/>
                  </a:cubicBezTo>
                  <a:lnTo>
                    <a:pt x="146304" y="1184131"/>
                  </a:lnTo>
                  <a:cubicBezTo>
                    <a:pt x="65503" y="1184131"/>
                    <a:pt x="0" y="1118628"/>
                    <a:pt x="0" y="1037827"/>
                  </a:cubicBezTo>
                  <a:lnTo>
                    <a:pt x="0" y="146304"/>
                  </a:lnTo>
                  <a:cubicBezTo>
                    <a:pt x="0" y="65503"/>
                    <a:pt x="65503" y="0"/>
                    <a:pt x="146304" y="0"/>
                  </a:cubicBezTo>
                  <a:close/>
                </a:path>
              </a:pathLst>
            </a:custGeom>
            <a:solidFill>
              <a:srgbClr val="051D40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05309" cy="1222231"/>
            </a:xfrm>
            <a:prstGeom prst="rect">
              <a:avLst/>
            </a:prstGeom>
          </p:spPr>
          <p:txBody>
            <a:bodyPr anchor="ctr" rtlCol="false" tIns="29080" lIns="29080" bIns="29080" rIns="2908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2742191" y="1876040"/>
            <a:ext cx="1612062" cy="0"/>
          </a:xfrm>
          <a:prstGeom prst="line">
            <a:avLst/>
          </a:prstGeom>
          <a:ln cap="flat" w="28575">
            <a:solidFill>
              <a:srgbClr val="39B5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2140890" y="3260907"/>
            <a:ext cx="14006220" cy="5899412"/>
            <a:chOff x="0" y="0"/>
            <a:chExt cx="5316520" cy="22393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16520" cy="2239315"/>
            </a:xfrm>
            <a:custGeom>
              <a:avLst/>
              <a:gdLst/>
              <a:ahLst/>
              <a:cxnLst/>
              <a:rect r="r" b="b" t="t" l="l"/>
              <a:pathLst>
                <a:path h="2239315" w="5316520">
                  <a:moveTo>
                    <a:pt x="33165" y="0"/>
                  </a:moveTo>
                  <a:lnTo>
                    <a:pt x="5283355" y="0"/>
                  </a:lnTo>
                  <a:cubicBezTo>
                    <a:pt x="5301671" y="0"/>
                    <a:pt x="5316520" y="14848"/>
                    <a:pt x="5316520" y="33165"/>
                  </a:cubicBezTo>
                  <a:lnTo>
                    <a:pt x="5316520" y="2206150"/>
                  </a:lnTo>
                  <a:cubicBezTo>
                    <a:pt x="5316520" y="2214946"/>
                    <a:pt x="5313026" y="2223382"/>
                    <a:pt x="5306806" y="2229601"/>
                  </a:cubicBezTo>
                  <a:cubicBezTo>
                    <a:pt x="5300586" y="2235821"/>
                    <a:pt x="5292151" y="2239315"/>
                    <a:pt x="5283355" y="2239315"/>
                  </a:cubicBezTo>
                  <a:lnTo>
                    <a:pt x="33165" y="2239315"/>
                  </a:lnTo>
                  <a:cubicBezTo>
                    <a:pt x="14848" y="2239315"/>
                    <a:pt x="0" y="2224467"/>
                    <a:pt x="0" y="2206150"/>
                  </a:cubicBezTo>
                  <a:lnTo>
                    <a:pt x="0" y="33165"/>
                  </a:lnTo>
                  <a:cubicBezTo>
                    <a:pt x="0" y="14848"/>
                    <a:pt x="14848" y="0"/>
                    <a:pt x="3316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16520" cy="2277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551858" y="3798283"/>
            <a:ext cx="7826683" cy="1076687"/>
          </a:xfrm>
          <a:custGeom>
            <a:avLst/>
            <a:gdLst/>
            <a:ahLst/>
            <a:cxnLst/>
            <a:rect r="r" b="b" t="t" l="l"/>
            <a:pathLst>
              <a:path h="1076687" w="7826683">
                <a:moveTo>
                  <a:pt x="0" y="0"/>
                </a:moveTo>
                <a:lnTo>
                  <a:pt x="7826684" y="0"/>
                </a:lnTo>
                <a:lnTo>
                  <a:pt x="7826684" y="1076686"/>
                </a:lnTo>
                <a:lnTo>
                  <a:pt x="0" y="1076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378542" y="3691568"/>
            <a:ext cx="5429240" cy="1290116"/>
          </a:xfrm>
          <a:custGeom>
            <a:avLst/>
            <a:gdLst/>
            <a:ahLst/>
            <a:cxnLst/>
            <a:rect r="r" b="b" t="t" l="l"/>
            <a:pathLst>
              <a:path h="1290116" w="5429240">
                <a:moveTo>
                  <a:pt x="0" y="0"/>
                </a:moveTo>
                <a:lnTo>
                  <a:pt x="5429240" y="0"/>
                </a:lnTo>
                <a:lnTo>
                  <a:pt x="5429240" y="1290116"/>
                </a:lnTo>
                <a:lnTo>
                  <a:pt x="0" y="1290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551828" y="4932119"/>
            <a:ext cx="5357600" cy="943958"/>
          </a:xfrm>
          <a:custGeom>
            <a:avLst/>
            <a:gdLst/>
            <a:ahLst/>
            <a:cxnLst/>
            <a:rect r="r" b="b" t="t" l="l"/>
            <a:pathLst>
              <a:path h="943958" w="5357600">
                <a:moveTo>
                  <a:pt x="0" y="0"/>
                </a:moveTo>
                <a:lnTo>
                  <a:pt x="5357600" y="0"/>
                </a:lnTo>
                <a:lnTo>
                  <a:pt x="5357600" y="943959"/>
                </a:lnTo>
                <a:lnTo>
                  <a:pt x="0" y="943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208628" y="5990378"/>
            <a:ext cx="10043999" cy="1384621"/>
          </a:xfrm>
          <a:custGeom>
            <a:avLst/>
            <a:gdLst/>
            <a:ahLst/>
            <a:cxnLst/>
            <a:rect r="r" b="b" t="t" l="l"/>
            <a:pathLst>
              <a:path h="1384621" w="10043999">
                <a:moveTo>
                  <a:pt x="0" y="0"/>
                </a:moveTo>
                <a:lnTo>
                  <a:pt x="10043999" y="0"/>
                </a:lnTo>
                <a:lnTo>
                  <a:pt x="10043999" y="1384621"/>
                </a:lnTo>
                <a:lnTo>
                  <a:pt x="0" y="1384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075775" y="7374999"/>
            <a:ext cx="12309706" cy="1193918"/>
          </a:xfrm>
          <a:custGeom>
            <a:avLst/>
            <a:gdLst/>
            <a:ahLst/>
            <a:cxnLst/>
            <a:rect r="r" b="b" t="t" l="l"/>
            <a:pathLst>
              <a:path h="1193918" w="12309706">
                <a:moveTo>
                  <a:pt x="0" y="0"/>
                </a:moveTo>
                <a:lnTo>
                  <a:pt x="12309706" y="0"/>
                </a:lnTo>
                <a:lnTo>
                  <a:pt x="12309706" y="1193918"/>
                </a:lnTo>
                <a:lnTo>
                  <a:pt x="0" y="11939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988177" y="1327918"/>
            <a:ext cx="3672724" cy="46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42271" y="2235094"/>
            <a:ext cx="3672724" cy="46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ENTREFER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94326" y="1251556"/>
            <a:ext cx="3672603" cy="466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98905" y="2015532"/>
            <a:ext cx="3063445" cy="76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7"/>
              </a:lnSpc>
              <a:spcBef>
                <a:spcPct val="0"/>
              </a:spcBef>
            </a:pPr>
            <a:r>
              <a:rPr lang="en-US" b="true" sz="2489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BARRES ROTORIQUES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98549" y="1256594"/>
            <a:ext cx="3499347" cy="46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1"/>
              </a:lnSpc>
              <a:spcBef>
                <a:spcPct val="0"/>
              </a:spcBef>
            </a:pPr>
            <a:r>
              <a:rPr lang="en-US" b="true" sz="2984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22899" y="2020240"/>
            <a:ext cx="2850646" cy="7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17"/>
              </a:lnSpc>
              <a:spcBef>
                <a:spcPct val="0"/>
              </a:spcBef>
            </a:pPr>
            <a:r>
              <a:rPr lang="en-US" b="true" sz="2431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ENCOCHES STATORIQUES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5964" y="1513561"/>
            <a:ext cx="15016071" cy="8266353"/>
            <a:chOff x="0" y="0"/>
            <a:chExt cx="5699841" cy="31377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99842" cy="3137765"/>
            </a:xfrm>
            <a:custGeom>
              <a:avLst/>
              <a:gdLst/>
              <a:ahLst/>
              <a:cxnLst/>
              <a:rect r="r" b="b" t="t" l="l"/>
              <a:pathLst>
                <a:path h="3137765" w="5699842">
                  <a:moveTo>
                    <a:pt x="30935" y="0"/>
                  </a:moveTo>
                  <a:lnTo>
                    <a:pt x="5668907" y="0"/>
                  </a:lnTo>
                  <a:cubicBezTo>
                    <a:pt x="5677112" y="0"/>
                    <a:pt x="5684980" y="3259"/>
                    <a:pt x="5690781" y="9061"/>
                  </a:cubicBezTo>
                  <a:cubicBezTo>
                    <a:pt x="5696583" y="14862"/>
                    <a:pt x="5699842" y="22730"/>
                    <a:pt x="5699842" y="30935"/>
                  </a:cubicBezTo>
                  <a:lnTo>
                    <a:pt x="5699842" y="3106831"/>
                  </a:lnTo>
                  <a:cubicBezTo>
                    <a:pt x="5699842" y="3115035"/>
                    <a:pt x="5696583" y="3122903"/>
                    <a:pt x="5690781" y="3128705"/>
                  </a:cubicBezTo>
                  <a:cubicBezTo>
                    <a:pt x="5684980" y="3134506"/>
                    <a:pt x="5677112" y="3137765"/>
                    <a:pt x="5668907" y="3137765"/>
                  </a:cubicBezTo>
                  <a:lnTo>
                    <a:pt x="30935" y="3137765"/>
                  </a:lnTo>
                  <a:cubicBezTo>
                    <a:pt x="22730" y="3137765"/>
                    <a:pt x="14862" y="3134506"/>
                    <a:pt x="9061" y="3128705"/>
                  </a:cubicBezTo>
                  <a:cubicBezTo>
                    <a:pt x="3259" y="3122903"/>
                    <a:pt x="0" y="3115035"/>
                    <a:pt x="0" y="3106831"/>
                  </a:cubicBezTo>
                  <a:lnTo>
                    <a:pt x="0" y="30935"/>
                  </a:lnTo>
                  <a:cubicBezTo>
                    <a:pt x="0" y="22730"/>
                    <a:pt x="3259" y="14862"/>
                    <a:pt x="9061" y="9061"/>
                  </a:cubicBezTo>
                  <a:cubicBezTo>
                    <a:pt x="14862" y="3259"/>
                    <a:pt x="22730" y="0"/>
                    <a:pt x="3093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99841" cy="3175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15802" y="2627454"/>
            <a:ext cx="14456396" cy="6038567"/>
          </a:xfrm>
          <a:custGeom>
            <a:avLst/>
            <a:gdLst/>
            <a:ahLst/>
            <a:cxnLst/>
            <a:rect r="r" b="b" t="t" l="l"/>
            <a:pathLst>
              <a:path h="6038567" w="14456396">
                <a:moveTo>
                  <a:pt x="0" y="0"/>
                </a:moveTo>
                <a:lnTo>
                  <a:pt x="14456396" y="0"/>
                </a:lnTo>
                <a:lnTo>
                  <a:pt x="14456396" y="6038567"/>
                </a:lnTo>
                <a:lnTo>
                  <a:pt x="0" y="6038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9" t="0" r="0" b="-2823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4287" y="507086"/>
            <a:ext cx="13978372" cy="100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CONDITIONS DE PASSAGE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-54747"/>
            <a:ext cx="2760734" cy="10341747"/>
            <a:chOff x="0" y="0"/>
            <a:chExt cx="727107" cy="2723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7107" cy="2723752"/>
            </a:xfrm>
            <a:custGeom>
              <a:avLst/>
              <a:gdLst/>
              <a:ahLst/>
              <a:cxnLst/>
              <a:rect r="r" b="b" t="t" l="l"/>
              <a:pathLst>
                <a:path h="2723752" w="727107">
                  <a:moveTo>
                    <a:pt x="0" y="0"/>
                  </a:moveTo>
                  <a:lnTo>
                    <a:pt x="727107" y="0"/>
                  </a:lnTo>
                  <a:lnTo>
                    <a:pt x="727107" y="2723752"/>
                  </a:lnTo>
                  <a:lnTo>
                    <a:pt x="0" y="2723752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7107" cy="2761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90837" y="1531938"/>
            <a:ext cx="15016071" cy="8266353"/>
            <a:chOff x="0" y="0"/>
            <a:chExt cx="5699841" cy="313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99842" cy="3137765"/>
            </a:xfrm>
            <a:custGeom>
              <a:avLst/>
              <a:gdLst/>
              <a:ahLst/>
              <a:cxnLst/>
              <a:rect r="r" b="b" t="t" l="l"/>
              <a:pathLst>
                <a:path h="3137765" w="5699842">
                  <a:moveTo>
                    <a:pt x="30935" y="0"/>
                  </a:moveTo>
                  <a:lnTo>
                    <a:pt x="5668907" y="0"/>
                  </a:lnTo>
                  <a:cubicBezTo>
                    <a:pt x="5677112" y="0"/>
                    <a:pt x="5684980" y="3259"/>
                    <a:pt x="5690781" y="9061"/>
                  </a:cubicBezTo>
                  <a:cubicBezTo>
                    <a:pt x="5696583" y="14862"/>
                    <a:pt x="5699842" y="22730"/>
                    <a:pt x="5699842" y="30935"/>
                  </a:cubicBezTo>
                  <a:lnTo>
                    <a:pt x="5699842" y="3106831"/>
                  </a:lnTo>
                  <a:cubicBezTo>
                    <a:pt x="5699842" y="3115035"/>
                    <a:pt x="5696583" y="3122903"/>
                    <a:pt x="5690781" y="3128705"/>
                  </a:cubicBezTo>
                  <a:cubicBezTo>
                    <a:pt x="5684980" y="3134506"/>
                    <a:pt x="5677112" y="3137765"/>
                    <a:pt x="5668907" y="3137765"/>
                  </a:cubicBezTo>
                  <a:lnTo>
                    <a:pt x="30935" y="3137765"/>
                  </a:lnTo>
                  <a:cubicBezTo>
                    <a:pt x="22730" y="3137765"/>
                    <a:pt x="14862" y="3134506"/>
                    <a:pt x="9061" y="3128705"/>
                  </a:cubicBezTo>
                  <a:cubicBezTo>
                    <a:pt x="3259" y="3122903"/>
                    <a:pt x="0" y="3115035"/>
                    <a:pt x="0" y="3106831"/>
                  </a:cubicBezTo>
                  <a:lnTo>
                    <a:pt x="0" y="30935"/>
                  </a:lnTo>
                  <a:cubicBezTo>
                    <a:pt x="0" y="22730"/>
                    <a:pt x="3259" y="14862"/>
                    <a:pt x="9061" y="9061"/>
                  </a:cubicBezTo>
                  <a:cubicBezTo>
                    <a:pt x="14862" y="3259"/>
                    <a:pt x="22730" y="0"/>
                    <a:pt x="3093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99841" cy="3175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57391" y="1799787"/>
            <a:ext cx="14401909" cy="7795033"/>
          </a:xfrm>
          <a:custGeom>
            <a:avLst/>
            <a:gdLst/>
            <a:ahLst/>
            <a:cxnLst/>
            <a:rect r="r" b="b" t="t" l="l"/>
            <a:pathLst>
              <a:path h="7795033" w="14401909">
                <a:moveTo>
                  <a:pt x="0" y="0"/>
                </a:moveTo>
                <a:lnTo>
                  <a:pt x="14401909" y="0"/>
                </a:lnTo>
                <a:lnTo>
                  <a:pt x="14401909" y="7795034"/>
                </a:lnTo>
                <a:lnTo>
                  <a:pt x="0" y="7795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69159" y="525462"/>
            <a:ext cx="13978372" cy="100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FORMULATION DES EQUATIONS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-54747"/>
            <a:ext cx="2760734" cy="10341747"/>
            <a:chOff x="0" y="0"/>
            <a:chExt cx="727107" cy="2723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7107" cy="2723752"/>
            </a:xfrm>
            <a:custGeom>
              <a:avLst/>
              <a:gdLst/>
              <a:ahLst/>
              <a:cxnLst/>
              <a:rect r="r" b="b" t="t" l="l"/>
              <a:pathLst>
                <a:path h="2723752" w="727107">
                  <a:moveTo>
                    <a:pt x="0" y="0"/>
                  </a:moveTo>
                  <a:lnTo>
                    <a:pt x="727107" y="0"/>
                  </a:lnTo>
                  <a:lnTo>
                    <a:pt x="727107" y="2723752"/>
                  </a:lnTo>
                  <a:lnTo>
                    <a:pt x="0" y="2723752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7107" cy="2761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90837" y="1531938"/>
            <a:ext cx="15016071" cy="8266353"/>
            <a:chOff x="0" y="0"/>
            <a:chExt cx="5699841" cy="313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99842" cy="3137765"/>
            </a:xfrm>
            <a:custGeom>
              <a:avLst/>
              <a:gdLst/>
              <a:ahLst/>
              <a:cxnLst/>
              <a:rect r="r" b="b" t="t" l="l"/>
              <a:pathLst>
                <a:path h="3137765" w="5699842">
                  <a:moveTo>
                    <a:pt x="30935" y="0"/>
                  </a:moveTo>
                  <a:lnTo>
                    <a:pt x="5668907" y="0"/>
                  </a:lnTo>
                  <a:cubicBezTo>
                    <a:pt x="5677112" y="0"/>
                    <a:pt x="5684980" y="3259"/>
                    <a:pt x="5690781" y="9061"/>
                  </a:cubicBezTo>
                  <a:cubicBezTo>
                    <a:pt x="5696583" y="14862"/>
                    <a:pt x="5699842" y="22730"/>
                    <a:pt x="5699842" y="30935"/>
                  </a:cubicBezTo>
                  <a:lnTo>
                    <a:pt x="5699842" y="3106831"/>
                  </a:lnTo>
                  <a:cubicBezTo>
                    <a:pt x="5699842" y="3115035"/>
                    <a:pt x="5696583" y="3122903"/>
                    <a:pt x="5690781" y="3128705"/>
                  </a:cubicBezTo>
                  <a:cubicBezTo>
                    <a:pt x="5684980" y="3134506"/>
                    <a:pt x="5677112" y="3137765"/>
                    <a:pt x="5668907" y="3137765"/>
                  </a:cubicBezTo>
                  <a:lnTo>
                    <a:pt x="30935" y="3137765"/>
                  </a:lnTo>
                  <a:cubicBezTo>
                    <a:pt x="22730" y="3137765"/>
                    <a:pt x="14862" y="3134506"/>
                    <a:pt x="9061" y="3128705"/>
                  </a:cubicBezTo>
                  <a:cubicBezTo>
                    <a:pt x="3259" y="3122903"/>
                    <a:pt x="0" y="3115035"/>
                    <a:pt x="0" y="3106831"/>
                  </a:cubicBezTo>
                  <a:lnTo>
                    <a:pt x="0" y="30935"/>
                  </a:lnTo>
                  <a:cubicBezTo>
                    <a:pt x="0" y="22730"/>
                    <a:pt x="3259" y="14862"/>
                    <a:pt x="9061" y="9061"/>
                  </a:cubicBezTo>
                  <a:cubicBezTo>
                    <a:pt x="14862" y="3259"/>
                    <a:pt x="22730" y="0"/>
                    <a:pt x="3093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99841" cy="3175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21552" y="2741470"/>
            <a:ext cx="14437748" cy="5847288"/>
          </a:xfrm>
          <a:custGeom>
            <a:avLst/>
            <a:gdLst/>
            <a:ahLst/>
            <a:cxnLst/>
            <a:rect r="r" b="b" t="t" l="l"/>
            <a:pathLst>
              <a:path h="5847288" w="14437748">
                <a:moveTo>
                  <a:pt x="0" y="0"/>
                </a:moveTo>
                <a:lnTo>
                  <a:pt x="14437748" y="0"/>
                </a:lnTo>
                <a:lnTo>
                  <a:pt x="14437748" y="5847288"/>
                </a:lnTo>
                <a:lnTo>
                  <a:pt x="0" y="5847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69159" y="525462"/>
            <a:ext cx="13978372" cy="100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FORMULATION DES EQUATIONS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43050" y="-54747"/>
            <a:ext cx="2760734" cy="10341747"/>
            <a:chOff x="0" y="0"/>
            <a:chExt cx="727107" cy="2723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7107" cy="2723752"/>
            </a:xfrm>
            <a:custGeom>
              <a:avLst/>
              <a:gdLst/>
              <a:ahLst/>
              <a:cxnLst/>
              <a:rect r="r" b="b" t="t" l="l"/>
              <a:pathLst>
                <a:path h="2723752" w="727107">
                  <a:moveTo>
                    <a:pt x="0" y="0"/>
                  </a:moveTo>
                  <a:lnTo>
                    <a:pt x="727107" y="0"/>
                  </a:lnTo>
                  <a:lnTo>
                    <a:pt x="727107" y="2723752"/>
                  </a:lnTo>
                  <a:lnTo>
                    <a:pt x="0" y="2723752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7107" cy="2761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90837" y="1531938"/>
            <a:ext cx="15016071" cy="8266353"/>
            <a:chOff x="0" y="0"/>
            <a:chExt cx="5699841" cy="31377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99842" cy="3137765"/>
            </a:xfrm>
            <a:custGeom>
              <a:avLst/>
              <a:gdLst/>
              <a:ahLst/>
              <a:cxnLst/>
              <a:rect r="r" b="b" t="t" l="l"/>
              <a:pathLst>
                <a:path h="3137765" w="5699842">
                  <a:moveTo>
                    <a:pt x="30935" y="0"/>
                  </a:moveTo>
                  <a:lnTo>
                    <a:pt x="5668907" y="0"/>
                  </a:lnTo>
                  <a:cubicBezTo>
                    <a:pt x="5677112" y="0"/>
                    <a:pt x="5684980" y="3259"/>
                    <a:pt x="5690781" y="9061"/>
                  </a:cubicBezTo>
                  <a:cubicBezTo>
                    <a:pt x="5696583" y="14862"/>
                    <a:pt x="5699842" y="22730"/>
                    <a:pt x="5699842" y="30935"/>
                  </a:cubicBezTo>
                  <a:lnTo>
                    <a:pt x="5699842" y="3106831"/>
                  </a:lnTo>
                  <a:cubicBezTo>
                    <a:pt x="5699842" y="3115035"/>
                    <a:pt x="5696583" y="3122903"/>
                    <a:pt x="5690781" y="3128705"/>
                  </a:cubicBezTo>
                  <a:cubicBezTo>
                    <a:pt x="5684980" y="3134506"/>
                    <a:pt x="5677112" y="3137765"/>
                    <a:pt x="5668907" y="3137765"/>
                  </a:cubicBezTo>
                  <a:lnTo>
                    <a:pt x="30935" y="3137765"/>
                  </a:lnTo>
                  <a:cubicBezTo>
                    <a:pt x="22730" y="3137765"/>
                    <a:pt x="14862" y="3134506"/>
                    <a:pt x="9061" y="3128705"/>
                  </a:cubicBezTo>
                  <a:cubicBezTo>
                    <a:pt x="3259" y="3122903"/>
                    <a:pt x="0" y="3115035"/>
                    <a:pt x="0" y="3106831"/>
                  </a:cubicBezTo>
                  <a:lnTo>
                    <a:pt x="0" y="30935"/>
                  </a:lnTo>
                  <a:cubicBezTo>
                    <a:pt x="0" y="22730"/>
                    <a:pt x="3259" y="14862"/>
                    <a:pt x="9061" y="9061"/>
                  </a:cubicBezTo>
                  <a:cubicBezTo>
                    <a:pt x="14862" y="3259"/>
                    <a:pt x="22730" y="0"/>
                    <a:pt x="3093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99841" cy="3175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02605" y="2908440"/>
            <a:ext cx="14556695" cy="5513348"/>
          </a:xfrm>
          <a:custGeom>
            <a:avLst/>
            <a:gdLst/>
            <a:ahLst/>
            <a:cxnLst/>
            <a:rect r="r" b="b" t="t" l="l"/>
            <a:pathLst>
              <a:path h="5513348" w="14556695">
                <a:moveTo>
                  <a:pt x="0" y="0"/>
                </a:moveTo>
                <a:lnTo>
                  <a:pt x="14556695" y="0"/>
                </a:lnTo>
                <a:lnTo>
                  <a:pt x="14556695" y="5513348"/>
                </a:lnTo>
                <a:lnTo>
                  <a:pt x="0" y="5513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69159" y="525462"/>
            <a:ext cx="13978372" cy="100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FORMULATION DES EQUATIONS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139322"/>
            <a:ext cx="7742071" cy="7369279"/>
            <a:chOff x="0" y="0"/>
            <a:chExt cx="2938756" cy="27972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38756" cy="2797251"/>
            </a:xfrm>
            <a:custGeom>
              <a:avLst/>
              <a:gdLst/>
              <a:ahLst/>
              <a:cxnLst/>
              <a:rect r="r" b="b" t="t" l="l"/>
              <a:pathLst>
                <a:path h="2797251" w="2938756">
                  <a:moveTo>
                    <a:pt x="59999" y="0"/>
                  </a:moveTo>
                  <a:lnTo>
                    <a:pt x="2878758" y="0"/>
                  </a:lnTo>
                  <a:cubicBezTo>
                    <a:pt x="2911894" y="0"/>
                    <a:pt x="2938756" y="26862"/>
                    <a:pt x="2938756" y="59999"/>
                  </a:cubicBezTo>
                  <a:lnTo>
                    <a:pt x="2938756" y="2737252"/>
                  </a:lnTo>
                  <a:cubicBezTo>
                    <a:pt x="2938756" y="2753165"/>
                    <a:pt x="2932435" y="2768426"/>
                    <a:pt x="2921183" y="2779678"/>
                  </a:cubicBezTo>
                  <a:cubicBezTo>
                    <a:pt x="2909931" y="2790930"/>
                    <a:pt x="2894670" y="2797251"/>
                    <a:pt x="2878758" y="2797251"/>
                  </a:cubicBezTo>
                  <a:lnTo>
                    <a:pt x="59999" y="2797251"/>
                  </a:lnTo>
                  <a:cubicBezTo>
                    <a:pt x="44086" y="2797251"/>
                    <a:pt x="28825" y="2790930"/>
                    <a:pt x="17573" y="2779678"/>
                  </a:cubicBezTo>
                  <a:cubicBezTo>
                    <a:pt x="6321" y="2768426"/>
                    <a:pt x="0" y="2753165"/>
                    <a:pt x="0" y="2737252"/>
                  </a:cubicBezTo>
                  <a:lnTo>
                    <a:pt x="0" y="59999"/>
                  </a:lnTo>
                  <a:cubicBezTo>
                    <a:pt x="0" y="44086"/>
                    <a:pt x="6321" y="28825"/>
                    <a:pt x="17573" y="17573"/>
                  </a:cubicBezTo>
                  <a:cubicBezTo>
                    <a:pt x="28825" y="6321"/>
                    <a:pt x="44086" y="0"/>
                    <a:pt x="59999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38756" cy="2835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76216" y="2501593"/>
            <a:ext cx="7369157" cy="6756707"/>
          </a:xfrm>
          <a:custGeom>
            <a:avLst/>
            <a:gdLst/>
            <a:ahLst/>
            <a:cxnLst/>
            <a:rect r="r" b="b" t="t" l="l"/>
            <a:pathLst>
              <a:path h="6756707" w="7369157">
                <a:moveTo>
                  <a:pt x="0" y="0"/>
                </a:moveTo>
                <a:lnTo>
                  <a:pt x="7369157" y="0"/>
                </a:lnTo>
                <a:lnTo>
                  <a:pt x="7369157" y="6756707"/>
                </a:lnTo>
                <a:lnTo>
                  <a:pt x="0" y="6756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517229" y="2139322"/>
            <a:ext cx="7742071" cy="7369279"/>
            <a:chOff x="0" y="0"/>
            <a:chExt cx="2938756" cy="27972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38756" cy="2797251"/>
            </a:xfrm>
            <a:custGeom>
              <a:avLst/>
              <a:gdLst/>
              <a:ahLst/>
              <a:cxnLst/>
              <a:rect r="r" b="b" t="t" l="l"/>
              <a:pathLst>
                <a:path h="2797251" w="2938756">
                  <a:moveTo>
                    <a:pt x="59999" y="0"/>
                  </a:moveTo>
                  <a:lnTo>
                    <a:pt x="2878758" y="0"/>
                  </a:lnTo>
                  <a:cubicBezTo>
                    <a:pt x="2911894" y="0"/>
                    <a:pt x="2938756" y="26862"/>
                    <a:pt x="2938756" y="59999"/>
                  </a:cubicBezTo>
                  <a:lnTo>
                    <a:pt x="2938756" y="2737252"/>
                  </a:lnTo>
                  <a:cubicBezTo>
                    <a:pt x="2938756" y="2753165"/>
                    <a:pt x="2932435" y="2768426"/>
                    <a:pt x="2921183" y="2779678"/>
                  </a:cubicBezTo>
                  <a:cubicBezTo>
                    <a:pt x="2909931" y="2790930"/>
                    <a:pt x="2894670" y="2797251"/>
                    <a:pt x="2878758" y="2797251"/>
                  </a:cubicBezTo>
                  <a:lnTo>
                    <a:pt x="59999" y="2797251"/>
                  </a:lnTo>
                  <a:cubicBezTo>
                    <a:pt x="44086" y="2797251"/>
                    <a:pt x="28825" y="2790930"/>
                    <a:pt x="17573" y="2779678"/>
                  </a:cubicBezTo>
                  <a:cubicBezTo>
                    <a:pt x="6321" y="2768426"/>
                    <a:pt x="0" y="2753165"/>
                    <a:pt x="0" y="2737252"/>
                  </a:cubicBezTo>
                  <a:lnTo>
                    <a:pt x="0" y="59999"/>
                  </a:lnTo>
                  <a:cubicBezTo>
                    <a:pt x="0" y="44086"/>
                    <a:pt x="6321" y="28825"/>
                    <a:pt x="17573" y="17573"/>
                  </a:cubicBezTo>
                  <a:cubicBezTo>
                    <a:pt x="28825" y="6321"/>
                    <a:pt x="44086" y="0"/>
                    <a:pt x="59999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938756" cy="2835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725210" y="3114158"/>
            <a:ext cx="7326109" cy="5419607"/>
          </a:xfrm>
          <a:custGeom>
            <a:avLst/>
            <a:gdLst/>
            <a:ahLst/>
            <a:cxnLst/>
            <a:rect r="r" b="b" t="t" l="l"/>
            <a:pathLst>
              <a:path h="5419607" w="7326109">
                <a:moveTo>
                  <a:pt x="0" y="0"/>
                </a:moveTo>
                <a:lnTo>
                  <a:pt x="7326109" y="0"/>
                </a:lnTo>
                <a:lnTo>
                  <a:pt x="7326109" y="5419607"/>
                </a:lnTo>
                <a:lnTo>
                  <a:pt x="0" y="5419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01378" y="1019175"/>
            <a:ext cx="4796714" cy="98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Equation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89908" y="1019175"/>
            <a:ext cx="4796714" cy="98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Equation 2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09975" y="2139322"/>
            <a:ext cx="12938269" cy="7369279"/>
            <a:chOff x="0" y="0"/>
            <a:chExt cx="4911144" cy="27972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11144" cy="2797251"/>
            </a:xfrm>
            <a:custGeom>
              <a:avLst/>
              <a:gdLst/>
              <a:ahLst/>
              <a:cxnLst/>
              <a:rect r="r" b="b" t="t" l="l"/>
              <a:pathLst>
                <a:path h="2797251" w="4911144">
                  <a:moveTo>
                    <a:pt x="35902" y="0"/>
                  </a:moveTo>
                  <a:lnTo>
                    <a:pt x="4875241" y="0"/>
                  </a:lnTo>
                  <a:cubicBezTo>
                    <a:pt x="4884763" y="0"/>
                    <a:pt x="4893895" y="3783"/>
                    <a:pt x="4900628" y="10516"/>
                  </a:cubicBezTo>
                  <a:cubicBezTo>
                    <a:pt x="4907361" y="17249"/>
                    <a:pt x="4911144" y="26381"/>
                    <a:pt x="4911144" y="35902"/>
                  </a:cubicBezTo>
                  <a:lnTo>
                    <a:pt x="4911144" y="2761349"/>
                  </a:lnTo>
                  <a:cubicBezTo>
                    <a:pt x="4911144" y="2770871"/>
                    <a:pt x="4907361" y="2780003"/>
                    <a:pt x="4900628" y="2786736"/>
                  </a:cubicBezTo>
                  <a:cubicBezTo>
                    <a:pt x="4893895" y="2793469"/>
                    <a:pt x="4884763" y="2797251"/>
                    <a:pt x="4875241" y="2797251"/>
                  </a:cubicBezTo>
                  <a:lnTo>
                    <a:pt x="35902" y="2797251"/>
                  </a:lnTo>
                  <a:cubicBezTo>
                    <a:pt x="26381" y="2797251"/>
                    <a:pt x="17249" y="2793469"/>
                    <a:pt x="10516" y="2786736"/>
                  </a:cubicBezTo>
                  <a:cubicBezTo>
                    <a:pt x="3783" y="2780003"/>
                    <a:pt x="0" y="2770871"/>
                    <a:pt x="0" y="2761349"/>
                  </a:cubicBezTo>
                  <a:lnTo>
                    <a:pt x="0" y="35902"/>
                  </a:lnTo>
                  <a:cubicBezTo>
                    <a:pt x="0" y="26381"/>
                    <a:pt x="3783" y="17249"/>
                    <a:pt x="10516" y="10516"/>
                  </a:cubicBezTo>
                  <a:cubicBezTo>
                    <a:pt x="17249" y="3783"/>
                    <a:pt x="26381" y="0"/>
                    <a:pt x="35902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11144" cy="2835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823373" y="2813763"/>
            <a:ext cx="12641254" cy="6020397"/>
          </a:xfrm>
          <a:custGeom>
            <a:avLst/>
            <a:gdLst/>
            <a:ahLst/>
            <a:cxnLst/>
            <a:rect r="r" b="b" t="t" l="l"/>
            <a:pathLst>
              <a:path h="6020397" w="12641254">
                <a:moveTo>
                  <a:pt x="0" y="0"/>
                </a:moveTo>
                <a:lnTo>
                  <a:pt x="12641254" y="0"/>
                </a:lnTo>
                <a:lnTo>
                  <a:pt x="12641254" y="6020397"/>
                </a:lnTo>
                <a:lnTo>
                  <a:pt x="0" y="6020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6216" y="1244876"/>
            <a:ext cx="12724425" cy="57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8"/>
              </a:lnSpc>
            </a:pPr>
            <a:r>
              <a:rPr lang="en-US" sz="34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 forme ensuite une matrice contenant plusieurs matrices.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378030" y="230030"/>
            <a:ext cx="5881270" cy="9826941"/>
            <a:chOff x="0" y="0"/>
            <a:chExt cx="2232429" cy="37301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428" cy="3730137"/>
            </a:xfrm>
            <a:custGeom>
              <a:avLst/>
              <a:gdLst/>
              <a:ahLst/>
              <a:cxnLst/>
              <a:rect r="r" b="b" t="t" l="l"/>
              <a:pathLst>
                <a:path h="3730137" w="2232428">
                  <a:moveTo>
                    <a:pt x="78982" y="0"/>
                  </a:moveTo>
                  <a:lnTo>
                    <a:pt x="2153446" y="0"/>
                  </a:lnTo>
                  <a:cubicBezTo>
                    <a:pt x="2174394" y="0"/>
                    <a:pt x="2194483" y="8321"/>
                    <a:pt x="2209295" y="23133"/>
                  </a:cubicBezTo>
                  <a:cubicBezTo>
                    <a:pt x="2224107" y="37945"/>
                    <a:pt x="2232428" y="58035"/>
                    <a:pt x="2232428" y="78982"/>
                  </a:cubicBezTo>
                  <a:lnTo>
                    <a:pt x="2232428" y="3651155"/>
                  </a:lnTo>
                  <a:cubicBezTo>
                    <a:pt x="2232428" y="3694776"/>
                    <a:pt x="2197067" y="3730137"/>
                    <a:pt x="2153446" y="3730137"/>
                  </a:cubicBezTo>
                  <a:lnTo>
                    <a:pt x="78982" y="3730137"/>
                  </a:lnTo>
                  <a:cubicBezTo>
                    <a:pt x="35362" y="3730137"/>
                    <a:pt x="0" y="3694776"/>
                    <a:pt x="0" y="3651155"/>
                  </a:cubicBezTo>
                  <a:lnTo>
                    <a:pt x="0" y="78982"/>
                  </a:lnTo>
                  <a:cubicBezTo>
                    <a:pt x="0" y="35362"/>
                    <a:pt x="35362" y="0"/>
                    <a:pt x="78982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32429" cy="3768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146062" y="440276"/>
            <a:ext cx="2208689" cy="9349666"/>
          </a:xfrm>
          <a:custGeom>
            <a:avLst/>
            <a:gdLst/>
            <a:ahLst/>
            <a:cxnLst/>
            <a:rect r="r" b="b" t="t" l="l"/>
            <a:pathLst>
              <a:path h="9349666" w="2208689">
                <a:moveTo>
                  <a:pt x="0" y="0"/>
                </a:moveTo>
                <a:lnTo>
                  <a:pt x="2208689" y="0"/>
                </a:lnTo>
                <a:lnTo>
                  <a:pt x="2208689" y="9349666"/>
                </a:lnTo>
                <a:lnTo>
                  <a:pt x="0" y="9349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825795"/>
            <a:ext cx="9073043" cy="57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8"/>
              </a:lnSpc>
            </a:pPr>
            <a:r>
              <a:rPr lang="en-US" sz="343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 multiplie la matrice précédente par ceci :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19628" y="7227483"/>
            <a:ext cx="7086596" cy="7086596"/>
          </a:xfrm>
          <a:custGeom>
            <a:avLst/>
            <a:gdLst/>
            <a:ahLst/>
            <a:cxnLst/>
            <a:rect r="r" b="b" t="t" l="l"/>
            <a:pathLst>
              <a:path h="7086596" w="7086596">
                <a:moveTo>
                  <a:pt x="0" y="0"/>
                </a:moveTo>
                <a:lnTo>
                  <a:pt x="7086596" y="0"/>
                </a:lnTo>
                <a:lnTo>
                  <a:pt x="7086596" y="7086596"/>
                </a:lnTo>
                <a:lnTo>
                  <a:pt x="0" y="7086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36461">
            <a:off x="14152110" y="-4118246"/>
            <a:ext cx="6566182" cy="6566182"/>
          </a:xfrm>
          <a:custGeom>
            <a:avLst/>
            <a:gdLst/>
            <a:ahLst/>
            <a:cxnLst/>
            <a:rect r="r" b="b" t="t" l="l"/>
            <a:pathLst>
              <a:path h="6566182" w="6566182">
                <a:moveTo>
                  <a:pt x="0" y="0"/>
                </a:moveTo>
                <a:lnTo>
                  <a:pt x="6566182" y="0"/>
                </a:lnTo>
                <a:lnTo>
                  <a:pt x="6566182" y="6566183"/>
                </a:lnTo>
                <a:lnTo>
                  <a:pt x="0" y="6566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6397827"/>
            <a:ext cx="6130573" cy="1659312"/>
            <a:chOff x="0" y="0"/>
            <a:chExt cx="3779502" cy="10229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79502" cy="1022967"/>
            </a:xfrm>
            <a:custGeom>
              <a:avLst/>
              <a:gdLst/>
              <a:ahLst/>
              <a:cxnLst/>
              <a:rect r="r" b="b" t="t" l="l"/>
              <a:pathLst>
                <a:path h="1022967" w="3779502">
                  <a:moveTo>
                    <a:pt x="0" y="0"/>
                  </a:moveTo>
                  <a:lnTo>
                    <a:pt x="3576302" y="0"/>
                  </a:lnTo>
                  <a:lnTo>
                    <a:pt x="3779502" y="511483"/>
                  </a:lnTo>
                  <a:lnTo>
                    <a:pt x="3576302" y="1022967"/>
                  </a:lnTo>
                  <a:lnTo>
                    <a:pt x="0" y="1022967"/>
                  </a:lnTo>
                  <a:lnTo>
                    <a:pt x="203200" y="511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7800" y="-38100"/>
              <a:ext cx="3525502" cy="106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3670" y="8361939"/>
            <a:ext cx="6130573" cy="1659312"/>
            <a:chOff x="0" y="0"/>
            <a:chExt cx="3779502" cy="1022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79502" cy="1022967"/>
            </a:xfrm>
            <a:custGeom>
              <a:avLst/>
              <a:gdLst/>
              <a:ahLst/>
              <a:cxnLst/>
              <a:rect r="r" b="b" t="t" l="l"/>
              <a:pathLst>
                <a:path h="1022967" w="3779502">
                  <a:moveTo>
                    <a:pt x="0" y="0"/>
                  </a:moveTo>
                  <a:lnTo>
                    <a:pt x="3576302" y="0"/>
                  </a:lnTo>
                  <a:lnTo>
                    <a:pt x="3779502" y="511483"/>
                  </a:lnTo>
                  <a:lnTo>
                    <a:pt x="3576302" y="1022967"/>
                  </a:lnTo>
                  <a:lnTo>
                    <a:pt x="0" y="1022967"/>
                  </a:lnTo>
                  <a:lnTo>
                    <a:pt x="203200" y="511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38100"/>
              <a:ext cx="3525502" cy="1061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3670" y="4433716"/>
            <a:ext cx="6130573" cy="1659312"/>
            <a:chOff x="0" y="0"/>
            <a:chExt cx="8174097" cy="221241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8174097" cy="2212415"/>
              <a:chOff x="0" y="0"/>
              <a:chExt cx="3779502" cy="102296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779502" cy="1022967"/>
              </a:xfrm>
              <a:custGeom>
                <a:avLst/>
                <a:gdLst/>
                <a:ahLst/>
                <a:cxnLst/>
                <a:rect r="r" b="b" t="t" l="l"/>
                <a:pathLst>
                  <a:path h="1022967" w="3779502">
                    <a:moveTo>
                      <a:pt x="0" y="0"/>
                    </a:moveTo>
                    <a:lnTo>
                      <a:pt x="3576302" y="0"/>
                    </a:lnTo>
                    <a:lnTo>
                      <a:pt x="3779502" y="511483"/>
                    </a:lnTo>
                    <a:lnTo>
                      <a:pt x="3576302" y="1022967"/>
                    </a:lnTo>
                    <a:lnTo>
                      <a:pt x="0" y="1022967"/>
                    </a:lnTo>
                    <a:lnTo>
                      <a:pt x="203200" y="511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77800" y="-38100"/>
                <a:ext cx="3525502" cy="1061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106745" y="242999"/>
              <a:ext cx="5960607" cy="16530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52"/>
                </a:lnSpc>
                <a:spcBef>
                  <a:spcPct val="0"/>
                </a:spcBef>
              </a:pPr>
              <a:r>
                <a:rPr lang="en-US" b="true" sz="366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courant des barres rotoriques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469604"/>
            <a:ext cx="6130573" cy="1659312"/>
            <a:chOff x="0" y="0"/>
            <a:chExt cx="8174097" cy="221241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8174097" cy="2212415"/>
              <a:chOff x="0" y="0"/>
              <a:chExt cx="3779502" cy="102296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779502" cy="1022967"/>
              </a:xfrm>
              <a:custGeom>
                <a:avLst/>
                <a:gdLst/>
                <a:ahLst/>
                <a:cxnLst/>
                <a:rect r="r" b="b" t="t" l="l"/>
                <a:pathLst>
                  <a:path h="1022967" w="3779502">
                    <a:moveTo>
                      <a:pt x="0" y="0"/>
                    </a:moveTo>
                    <a:lnTo>
                      <a:pt x="3576302" y="0"/>
                    </a:lnTo>
                    <a:lnTo>
                      <a:pt x="3779502" y="511483"/>
                    </a:lnTo>
                    <a:lnTo>
                      <a:pt x="3576302" y="1022967"/>
                    </a:lnTo>
                    <a:lnTo>
                      <a:pt x="0" y="1022967"/>
                    </a:lnTo>
                    <a:lnTo>
                      <a:pt x="203200" y="511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77800" y="-38100"/>
                <a:ext cx="3525502" cy="1061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800880" y="277921"/>
              <a:ext cx="6572338" cy="15994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82"/>
                </a:lnSpc>
                <a:spcBef>
                  <a:spcPct val="0"/>
                </a:spcBef>
              </a:pPr>
              <a:r>
                <a:rPr lang="en-US" b="true" sz="3537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Densité de courant de Foucault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631179" y="2704651"/>
            <a:ext cx="9128990" cy="1189217"/>
          </a:xfrm>
          <a:custGeom>
            <a:avLst/>
            <a:gdLst/>
            <a:ahLst/>
            <a:cxnLst/>
            <a:rect r="r" b="b" t="t" l="l"/>
            <a:pathLst>
              <a:path h="1189217" w="9128990">
                <a:moveTo>
                  <a:pt x="0" y="0"/>
                </a:moveTo>
                <a:lnTo>
                  <a:pt x="9128991" y="0"/>
                </a:lnTo>
                <a:lnTo>
                  <a:pt x="9128991" y="1189218"/>
                </a:lnTo>
                <a:lnTo>
                  <a:pt x="0" y="11892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631179" y="4167746"/>
            <a:ext cx="7465296" cy="1951509"/>
          </a:xfrm>
          <a:custGeom>
            <a:avLst/>
            <a:gdLst/>
            <a:ahLst/>
            <a:cxnLst/>
            <a:rect r="r" b="b" t="t" l="l"/>
            <a:pathLst>
              <a:path h="1951509" w="7465296">
                <a:moveTo>
                  <a:pt x="0" y="0"/>
                </a:moveTo>
                <a:lnTo>
                  <a:pt x="7465296" y="0"/>
                </a:lnTo>
                <a:lnTo>
                  <a:pt x="7465296" y="1951508"/>
                </a:lnTo>
                <a:lnTo>
                  <a:pt x="0" y="1951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631179" y="6316303"/>
            <a:ext cx="7581916" cy="1822360"/>
          </a:xfrm>
          <a:custGeom>
            <a:avLst/>
            <a:gdLst/>
            <a:ahLst/>
            <a:cxnLst/>
            <a:rect r="r" b="b" t="t" l="l"/>
            <a:pathLst>
              <a:path h="1822360" w="7581916">
                <a:moveTo>
                  <a:pt x="0" y="0"/>
                </a:moveTo>
                <a:lnTo>
                  <a:pt x="7581916" y="0"/>
                </a:lnTo>
                <a:lnTo>
                  <a:pt x="7581916" y="1822360"/>
                </a:lnTo>
                <a:lnTo>
                  <a:pt x="0" y="18223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631179" y="8243609"/>
            <a:ext cx="3407950" cy="1895972"/>
          </a:xfrm>
          <a:custGeom>
            <a:avLst/>
            <a:gdLst/>
            <a:ahLst/>
            <a:cxnLst/>
            <a:rect r="r" b="b" t="t" l="l"/>
            <a:pathLst>
              <a:path h="1895972" w="3407950">
                <a:moveTo>
                  <a:pt x="0" y="0"/>
                </a:moveTo>
                <a:lnTo>
                  <a:pt x="3407950" y="0"/>
                </a:lnTo>
                <a:lnTo>
                  <a:pt x="3407950" y="1895972"/>
                </a:lnTo>
                <a:lnTo>
                  <a:pt x="0" y="18959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98296" y="6498998"/>
            <a:ext cx="5591381" cy="14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4"/>
              </a:lnSpc>
              <a:spcBef>
                <a:spcPct val="0"/>
              </a:spcBef>
            </a:pPr>
            <a:r>
              <a:rPr lang="en-US" b="true" sz="271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Matrice de connexion entre les courants de phase et les encoches du stator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91255" y="419055"/>
            <a:ext cx="12105491" cy="174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3"/>
              </a:lnSpc>
            </a:pPr>
            <a:r>
              <a:rPr lang="en-US" sz="5736" b="true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COURANT DANS LES BARRES DU</a:t>
            </a:r>
          </a:p>
          <a:p>
            <a:pPr algn="ctr" marL="0" indent="0" lvl="0">
              <a:lnSpc>
                <a:spcPts val="6883"/>
              </a:lnSpc>
              <a:spcBef>
                <a:spcPct val="0"/>
              </a:spcBef>
            </a:pPr>
            <a:r>
              <a:rPr lang="en-US" b="true" sz="5736">
                <a:solidFill>
                  <a:srgbClr val="CFF4FF"/>
                </a:solidFill>
                <a:latin typeface="Now Bold"/>
                <a:ea typeface="Now Bold"/>
                <a:cs typeface="Now Bold"/>
                <a:sym typeface="Now Bold"/>
              </a:rPr>
              <a:t>ROTOR ET DU BOBINAGE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3266" y="8779072"/>
            <a:ext cx="5591381" cy="59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48"/>
              </a:lnSpc>
              <a:spcBef>
                <a:spcPct val="0"/>
              </a:spcBef>
            </a:pPr>
            <a:r>
              <a:rPr lang="en-US" b="true" sz="351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Courant de phase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19628" y="7227483"/>
            <a:ext cx="7086596" cy="7086596"/>
          </a:xfrm>
          <a:custGeom>
            <a:avLst/>
            <a:gdLst/>
            <a:ahLst/>
            <a:cxnLst/>
            <a:rect r="r" b="b" t="t" l="l"/>
            <a:pathLst>
              <a:path h="7086596" w="7086596">
                <a:moveTo>
                  <a:pt x="0" y="0"/>
                </a:moveTo>
                <a:lnTo>
                  <a:pt x="7086596" y="0"/>
                </a:lnTo>
                <a:lnTo>
                  <a:pt x="7086596" y="7086596"/>
                </a:lnTo>
                <a:lnTo>
                  <a:pt x="0" y="7086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36461">
            <a:off x="14152110" y="-4118246"/>
            <a:ext cx="6566182" cy="6566182"/>
          </a:xfrm>
          <a:custGeom>
            <a:avLst/>
            <a:gdLst/>
            <a:ahLst/>
            <a:cxnLst/>
            <a:rect r="r" b="b" t="t" l="l"/>
            <a:pathLst>
              <a:path h="6566182" w="6566182">
                <a:moveTo>
                  <a:pt x="0" y="0"/>
                </a:moveTo>
                <a:lnTo>
                  <a:pt x="6566182" y="0"/>
                </a:lnTo>
                <a:lnTo>
                  <a:pt x="6566182" y="6566183"/>
                </a:lnTo>
                <a:lnTo>
                  <a:pt x="0" y="6566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68369" y="4442124"/>
            <a:ext cx="15951262" cy="4015873"/>
            <a:chOff x="0" y="0"/>
            <a:chExt cx="21268349" cy="535449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1268349" cy="5354497"/>
              <a:chOff x="0" y="0"/>
              <a:chExt cx="6054824" cy="15243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054823" cy="1524356"/>
              </a:xfrm>
              <a:custGeom>
                <a:avLst/>
                <a:gdLst/>
                <a:ahLst/>
                <a:cxnLst/>
                <a:rect r="r" b="b" t="t" l="l"/>
                <a:pathLst>
                  <a:path h="1524356" w="6054823">
                    <a:moveTo>
                      <a:pt x="29121" y="0"/>
                    </a:moveTo>
                    <a:lnTo>
                      <a:pt x="6025702" y="0"/>
                    </a:lnTo>
                    <a:cubicBezTo>
                      <a:pt x="6041785" y="0"/>
                      <a:pt x="6054823" y="13038"/>
                      <a:pt x="6054823" y="29121"/>
                    </a:cubicBezTo>
                    <a:lnTo>
                      <a:pt x="6054823" y="1495235"/>
                    </a:lnTo>
                    <a:cubicBezTo>
                      <a:pt x="6054823" y="1502959"/>
                      <a:pt x="6051755" y="1510366"/>
                      <a:pt x="6046294" y="1515827"/>
                    </a:cubicBezTo>
                    <a:cubicBezTo>
                      <a:pt x="6040833" y="1521288"/>
                      <a:pt x="6033426" y="1524356"/>
                      <a:pt x="6025702" y="1524356"/>
                    </a:cubicBezTo>
                    <a:lnTo>
                      <a:pt x="29121" y="1524356"/>
                    </a:lnTo>
                    <a:cubicBezTo>
                      <a:pt x="21398" y="1524356"/>
                      <a:pt x="13991" y="1521288"/>
                      <a:pt x="8529" y="1515827"/>
                    </a:cubicBezTo>
                    <a:cubicBezTo>
                      <a:pt x="3068" y="1510366"/>
                      <a:pt x="0" y="1502959"/>
                      <a:pt x="0" y="1495235"/>
                    </a:cubicBezTo>
                    <a:lnTo>
                      <a:pt x="0" y="29121"/>
                    </a:lnTo>
                    <a:cubicBezTo>
                      <a:pt x="0" y="21398"/>
                      <a:pt x="3068" y="13991"/>
                      <a:pt x="8529" y="8529"/>
                    </a:cubicBezTo>
                    <a:cubicBezTo>
                      <a:pt x="13991" y="3068"/>
                      <a:pt x="21398" y="0"/>
                      <a:pt x="291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rnd">
                <a:solidFill>
                  <a:srgbClr val="39B54A"/>
                </a:solidFill>
                <a:prstDash val="solid"/>
                <a:round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054824" cy="15624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83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490395" y="580738"/>
              <a:ext cx="20688357" cy="3814499"/>
            </a:xfrm>
            <a:custGeom>
              <a:avLst/>
              <a:gdLst/>
              <a:ahLst/>
              <a:cxnLst/>
              <a:rect r="r" b="b" t="t" l="l"/>
              <a:pathLst>
                <a:path h="3814499" w="20688357">
                  <a:moveTo>
                    <a:pt x="0" y="0"/>
                  </a:moveTo>
                  <a:lnTo>
                    <a:pt x="20688358" y="0"/>
                  </a:lnTo>
                  <a:lnTo>
                    <a:pt x="20688358" y="3814498"/>
                  </a:lnTo>
                  <a:lnTo>
                    <a:pt x="0" y="3814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3670" y="1432957"/>
            <a:ext cx="12230694" cy="2015265"/>
            <a:chOff x="0" y="0"/>
            <a:chExt cx="16307592" cy="268702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248520"/>
              <a:ext cx="8174097" cy="2212415"/>
              <a:chOff x="0" y="0"/>
              <a:chExt cx="3779502" cy="102296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779502" cy="1022967"/>
              </a:xfrm>
              <a:custGeom>
                <a:avLst/>
                <a:gdLst/>
                <a:ahLst/>
                <a:cxnLst/>
                <a:rect r="r" b="b" t="t" l="l"/>
                <a:pathLst>
                  <a:path h="1022967" w="3779502">
                    <a:moveTo>
                      <a:pt x="0" y="0"/>
                    </a:moveTo>
                    <a:lnTo>
                      <a:pt x="3576302" y="0"/>
                    </a:lnTo>
                    <a:lnTo>
                      <a:pt x="3779502" y="511483"/>
                    </a:lnTo>
                    <a:lnTo>
                      <a:pt x="3576302" y="1022967"/>
                    </a:lnTo>
                    <a:lnTo>
                      <a:pt x="0" y="1022967"/>
                    </a:lnTo>
                    <a:lnTo>
                      <a:pt x="203200" y="511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38100"/>
                <a:ext cx="3525502" cy="10610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8926789" y="0"/>
              <a:ext cx="7380803" cy="2687020"/>
            </a:xfrm>
            <a:custGeom>
              <a:avLst/>
              <a:gdLst/>
              <a:ahLst/>
              <a:cxnLst/>
              <a:rect r="r" b="b" t="t" l="l"/>
              <a:pathLst>
                <a:path h="2687020" w="7380803">
                  <a:moveTo>
                    <a:pt x="0" y="0"/>
                  </a:moveTo>
                  <a:lnTo>
                    <a:pt x="7380803" y="0"/>
                  </a:lnTo>
                  <a:lnTo>
                    <a:pt x="7380803" y="2687020"/>
                  </a:lnTo>
                  <a:lnTo>
                    <a:pt x="0" y="2687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676621" y="191370"/>
              <a:ext cx="6820855" cy="2247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16"/>
                </a:lnSpc>
                <a:spcBef>
                  <a:spcPct val="0"/>
                </a:spcBef>
              </a:pPr>
              <a:r>
                <a:rPr lang="en-US" b="true" sz="327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densités de courant du stator dans les encoches statoriques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5498" y="760529"/>
            <a:ext cx="10877005" cy="98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CALCUL DES PARAMETRES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739304" y="2762956"/>
            <a:ext cx="9120246" cy="5614875"/>
            <a:chOff x="0" y="0"/>
            <a:chExt cx="3461888" cy="21313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61888" cy="2131310"/>
            </a:xfrm>
            <a:custGeom>
              <a:avLst/>
              <a:gdLst/>
              <a:ahLst/>
              <a:cxnLst/>
              <a:rect r="r" b="b" t="t" l="l"/>
              <a:pathLst>
                <a:path h="2131310" w="3461888">
                  <a:moveTo>
                    <a:pt x="0" y="0"/>
                  </a:moveTo>
                  <a:lnTo>
                    <a:pt x="3461888" y="0"/>
                  </a:lnTo>
                  <a:lnTo>
                    <a:pt x="3461888" y="2131310"/>
                  </a:lnTo>
                  <a:lnTo>
                    <a:pt x="0" y="213131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461888" cy="2169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36892" y="3418207"/>
            <a:ext cx="8925071" cy="3450585"/>
          </a:xfrm>
          <a:custGeom>
            <a:avLst/>
            <a:gdLst/>
            <a:ahLst/>
            <a:cxnLst/>
            <a:rect r="r" b="b" t="t" l="l"/>
            <a:pathLst>
              <a:path h="3450585" w="8925071">
                <a:moveTo>
                  <a:pt x="0" y="0"/>
                </a:moveTo>
                <a:lnTo>
                  <a:pt x="8925071" y="0"/>
                </a:lnTo>
                <a:lnTo>
                  <a:pt x="8925071" y="3450586"/>
                </a:lnTo>
                <a:lnTo>
                  <a:pt x="0" y="3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1821" y="2996645"/>
            <a:ext cx="8007483" cy="538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976" indent="-333488" lvl="1">
              <a:lnSpc>
                <a:spcPts val="4263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089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: la résistance du stator déterminée par la formule analytique classique.</a:t>
            </a:r>
          </a:p>
          <a:p>
            <a:pPr algn="l" marL="666976" indent="-333488" lvl="1">
              <a:lnSpc>
                <a:spcPts val="4263"/>
              </a:lnSpc>
              <a:buFont typeface="Arial"/>
              <a:buChar char="•"/>
            </a:pPr>
            <a:r>
              <a:rPr lang="en-US" sz="3089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Ls : l’inductance du stator (magnétisante).</a:t>
            </a:r>
          </a:p>
          <a:p>
            <a:pPr algn="l" marL="666976" indent="-333488" lvl="1">
              <a:lnSpc>
                <a:spcPts val="4263"/>
              </a:lnSpc>
              <a:buFont typeface="Arial"/>
              <a:buChar char="•"/>
            </a:pPr>
            <a:r>
              <a:rPr lang="en-US" sz="3089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 ′2(g) : l’inductance de fuite dans le rotor exprimée en fonction du glissement.</a:t>
            </a:r>
          </a:p>
          <a:p>
            <a:pPr algn="l" marL="666976" indent="-333488" lvl="1">
              <a:lnSpc>
                <a:spcPts val="4263"/>
              </a:lnSpc>
              <a:buFont typeface="Arial"/>
              <a:buChar char="•"/>
            </a:pPr>
            <a:r>
              <a:rPr lang="en-US" sz="3089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R′2(g) : la résistance équivalente exprimée dans le repère du rotor dépendant du glissement.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19628" y="7227483"/>
            <a:ext cx="7086596" cy="7086596"/>
          </a:xfrm>
          <a:custGeom>
            <a:avLst/>
            <a:gdLst/>
            <a:ahLst/>
            <a:cxnLst/>
            <a:rect r="r" b="b" t="t" l="l"/>
            <a:pathLst>
              <a:path h="7086596" w="7086596">
                <a:moveTo>
                  <a:pt x="0" y="0"/>
                </a:moveTo>
                <a:lnTo>
                  <a:pt x="7086596" y="0"/>
                </a:lnTo>
                <a:lnTo>
                  <a:pt x="7086596" y="7086596"/>
                </a:lnTo>
                <a:lnTo>
                  <a:pt x="0" y="7086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36461">
            <a:off x="14152110" y="-4118246"/>
            <a:ext cx="6566182" cy="6566182"/>
          </a:xfrm>
          <a:custGeom>
            <a:avLst/>
            <a:gdLst/>
            <a:ahLst/>
            <a:cxnLst/>
            <a:rect r="r" b="b" t="t" l="l"/>
            <a:pathLst>
              <a:path h="6566182" w="6566182">
                <a:moveTo>
                  <a:pt x="0" y="0"/>
                </a:moveTo>
                <a:lnTo>
                  <a:pt x="6566182" y="0"/>
                </a:lnTo>
                <a:lnTo>
                  <a:pt x="6566182" y="6566183"/>
                </a:lnTo>
                <a:lnTo>
                  <a:pt x="0" y="6566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22622" y="999040"/>
            <a:ext cx="8862523" cy="1510393"/>
          </a:xfrm>
          <a:custGeom>
            <a:avLst/>
            <a:gdLst/>
            <a:ahLst/>
            <a:cxnLst/>
            <a:rect r="r" b="b" t="t" l="l"/>
            <a:pathLst>
              <a:path h="1510393" w="8862523">
                <a:moveTo>
                  <a:pt x="0" y="0"/>
                </a:moveTo>
                <a:lnTo>
                  <a:pt x="8862523" y="0"/>
                </a:lnTo>
                <a:lnTo>
                  <a:pt x="8862523" y="1510393"/>
                </a:lnTo>
                <a:lnTo>
                  <a:pt x="0" y="15103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860" r="0" b="-886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19065" y="4903774"/>
            <a:ext cx="4161751" cy="1184729"/>
            <a:chOff x="0" y="0"/>
            <a:chExt cx="5549001" cy="157963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5549001" cy="1579638"/>
              <a:chOff x="0" y="0"/>
              <a:chExt cx="2565722" cy="73038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65722" cy="730386"/>
              </a:xfrm>
              <a:custGeom>
                <a:avLst/>
                <a:gdLst/>
                <a:ahLst/>
                <a:cxnLst/>
                <a:rect r="r" b="b" t="t" l="l"/>
                <a:pathLst>
                  <a:path h="730386" w="2565722">
                    <a:moveTo>
                      <a:pt x="0" y="0"/>
                    </a:moveTo>
                    <a:lnTo>
                      <a:pt x="2362522" y="0"/>
                    </a:lnTo>
                    <a:lnTo>
                      <a:pt x="2565722" y="365193"/>
                    </a:lnTo>
                    <a:lnTo>
                      <a:pt x="2362522" y="730386"/>
                    </a:lnTo>
                    <a:lnTo>
                      <a:pt x="0" y="730386"/>
                    </a:lnTo>
                    <a:lnTo>
                      <a:pt x="203200" y="3651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77800" y="-38100"/>
                <a:ext cx="2311722" cy="7684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72156" y="125770"/>
              <a:ext cx="4604688" cy="1280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02"/>
                </a:lnSpc>
                <a:spcBef>
                  <a:spcPct val="0"/>
                </a:spcBef>
              </a:pPr>
              <a:r>
                <a:rPr lang="en-US" b="true" sz="282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 courant rotorique I′2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19065" y="1161872"/>
            <a:ext cx="4161751" cy="1182241"/>
            <a:chOff x="0" y="0"/>
            <a:chExt cx="5549001" cy="157632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549001" cy="1576321"/>
              <a:chOff x="0" y="0"/>
              <a:chExt cx="2565722" cy="7288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565722" cy="728852"/>
              </a:xfrm>
              <a:custGeom>
                <a:avLst/>
                <a:gdLst/>
                <a:ahLst/>
                <a:cxnLst/>
                <a:rect r="r" b="b" t="t" l="l"/>
                <a:pathLst>
                  <a:path h="728852" w="2565722">
                    <a:moveTo>
                      <a:pt x="0" y="0"/>
                    </a:moveTo>
                    <a:lnTo>
                      <a:pt x="2362522" y="0"/>
                    </a:lnTo>
                    <a:lnTo>
                      <a:pt x="2565722" y="364426"/>
                    </a:lnTo>
                    <a:lnTo>
                      <a:pt x="2362522" y="728852"/>
                    </a:lnTo>
                    <a:lnTo>
                      <a:pt x="0" y="728852"/>
                    </a:lnTo>
                    <a:lnTo>
                      <a:pt x="203200" y="364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77800" y="-38100"/>
                <a:ext cx="2311722" cy="7669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71437" y="411065"/>
              <a:ext cx="4806128" cy="697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78"/>
                </a:lnSpc>
                <a:spcBef>
                  <a:spcPct val="0"/>
                </a:spcBef>
              </a:pPr>
              <a:r>
                <a:rPr lang="en-US" b="true" sz="317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Couplage des flux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19065" y="3033245"/>
            <a:ext cx="4161751" cy="1184729"/>
            <a:chOff x="0" y="0"/>
            <a:chExt cx="5549001" cy="1579638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549001" cy="1579638"/>
              <a:chOff x="0" y="0"/>
              <a:chExt cx="2565722" cy="73038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565722" cy="730386"/>
              </a:xfrm>
              <a:custGeom>
                <a:avLst/>
                <a:gdLst/>
                <a:ahLst/>
                <a:cxnLst/>
                <a:rect r="r" b="b" t="t" l="l"/>
                <a:pathLst>
                  <a:path h="730386" w="2565722">
                    <a:moveTo>
                      <a:pt x="0" y="0"/>
                    </a:moveTo>
                    <a:lnTo>
                      <a:pt x="2362522" y="0"/>
                    </a:lnTo>
                    <a:lnTo>
                      <a:pt x="2565722" y="365193"/>
                    </a:lnTo>
                    <a:lnTo>
                      <a:pt x="2362522" y="730386"/>
                    </a:lnTo>
                    <a:lnTo>
                      <a:pt x="0" y="730386"/>
                    </a:lnTo>
                    <a:lnTo>
                      <a:pt x="203200" y="3651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77800" y="-38100"/>
                <a:ext cx="2311722" cy="7684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89211" y="168518"/>
              <a:ext cx="4970578" cy="1204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92"/>
                </a:lnSpc>
                <a:spcBef>
                  <a:spcPct val="0"/>
                </a:spcBef>
              </a:pPr>
              <a:r>
                <a:rPr lang="en-US" b="true" sz="267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L’inductance de magnétisation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19065" y="6774302"/>
            <a:ext cx="4161751" cy="1184729"/>
            <a:chOff x="0" y="0"/>
            <a:chExt cx="5549001" cy="157963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549001" cy="1579638"/>
              <a:chOff x="0" y="0"/>
              <a:chExt cx="2565722" cy="73038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565722" cy="730386"/>
              </a:xfrm>
              <a:custGeom>
                <a:avLst/>
                <a:gdLst/>
                <a:ahLst/>
                <a:cxnLst/>
                <a:rect r="r" b="b" t="t" l="l"/>
                <a:pathLst>
                  <a:path h="730386" w="2565722">
                    <a:moveTo>
                      <a:pt x="0" y="0"/>
                    </a:moveTo>
                    <a:lnTo>
                      <a:pt x="2362522" y="0"/>
                    </a:lnTo>
                    <a:lnTo>
                      <a:pt x="2565722" y="365193"/>
                    </a:lnTo>
                    <a:lnTo>
                      <a:pt x="2362522" y="730386"/>
                    </a:lnTo>
                    <a:lnTo>
                      <a:pt x="0" y="730386"/>
                    </a:lnTo>
                    <a:lnTo>
                      <a:pt x="203200" y="3651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38100"/>
                <a:ext cx="2311722" cy="7684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44021" y="150770"/>
              <a:ext cx="5060959" cy="12304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713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L’impédance secondaire Z′2(g)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119065" y="8644831"/>
            <a:ext cx="4161751" cy="1184729"/>
            <a:chOff x="0" y="0"/>
            <a:chExt cx="5549001" cy="157963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549001" cy="1579638"/>
              <a:chOff x="0" y="0"/>
              <a:chExt cx="2565722" cy="73038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565722" cy="730386"/>
              </a:xfrm>
              <a:custGeom>
                <a:avLst/>
                <a:gdLst/>
                <a:ahLst/>
                <a:cxnLst/>
                <a:rect r="r" b="b" t="t" l="l"/>
                <a:pathLst>
                  <a:path h="730386" w="2565722">
                    <a:moveTo>
                      <a:pt x="0" y="0"/>
                    </a:moveTo>
                    <a:lnTo>
                      <a:pt x="2362522" y="0"/>
                    </a:lnTo>
                    <a:lnTo>
                      <a:pt x="2565722" y="365193"/>
                    </a:lnTo>
                    <a:lnTo>
                      <a:pt x="2362522" y="730386"/>
                    </a:lnTo>
                    <a:lnTo>
                      <a:pt x="0" y="730386"/>
                    </a:lnTo>
                    <a:lnTo>
                      <a:pt x="203200" y="3651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77800" y="-38100"/>
                <a:ext cx="2311722" cy="7684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804175" y="57882"/>
              <a:ext cx="3940651" cy="1300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65"/>
                </a:lnSpc>
                <a:spcBef>
                  <a:spcPct val="0"/>
                </a:spcBef>
              </a:pPr>
              <a:r>
                <a:rPr lang="en-US" b="true" sz="2873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 courant du stator 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622622" y="2955767"/>
            <a:ext cx="4431262" cy="1339684"/>
          </a:xfrm>
          <a:custGeom>
            <a:avLst/>
            <a:gdLst/>
            <a:ahLst/>
            <a:cxnLst/>
            <a:rect r="r" b="b" t="t" l="l"/>
            <a:pathLst>
              <a:path h="1339684" w="4431262">
                <a:moveTo>
                  <a:pt x="0" y="0"/>
                </a:moveTo>
                <a:lnTo>
                  <a:pt x="4431262" y="0"/>
                </a:lnTo>
                <a:lnTo>
                  <a:pt x="4431262" y="1339684"/>
                </a:lnTo>
                <a:lnTo>
                  <a:pt x="0" y="1339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622622" y="4787121"/>
            <a:ext cx="4543498" cy="1418034"/>
          </a:xfrm>
          <a:custGeom>
            <a:avLst/>
            <a:gdLst/>
            <a:ahLst/>
            <a:cxnLst/>
            <a:rect r="r" b="b" t="t" l="l"/>
            <a:pathLst>
              <a:path h="1418034" w="4543498">
                <a:moveTo>
                  <a:pt x="0" y="0"/>
                </a:moveTo>
                <a:lnTo>
                  <a:pt x="4543498" y="0"/>
                </a:lnTo>
                <a:lnTo>
                  <a:pt x="4543498" y="1418034"/>
                </a:lnTo>
                <a:lnTo>
                  <a:pt x="0" y="14180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622622" y="6700455"/>
            <a:ext cx="8486472" cy="1396508"/>
          </a:xfrm>
          <a:custGeom>
            <a:avLst/>
            <a:gdLst/>
            <a:ahLst/>
            <a:cxnLst/>
            <a:rect r="r" b="b" t="t" l="l"/>
            <a:pathLst>
              <a:path h="1396508" w="8486472">
                <a:moveTo>
                  <a:pt x="0" y="0"/>
                </a:moveTo>
                <a:lnTo>
                  <a:pt x="8486471" y="0"/>
                </a:lnTo>
                <a:lnTo>
                  <a:pt x="8486471" y="1396508"/>
                </a:lnTo>
                <a:lnTo>
                  <a:pt x="0" y="13965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622622" y="8452552"/>
            <a:ext cx="4964650" cy="1569286"/>
          </a:xfrm>
          <a:custGeom>
            <a:avLst/>
            <a:gdLst/>
            <a:ahLst/>
            <a:cxnLst/>
            <a:rect r="r" b="b" t="t" l="l"/>
            <a:pathLst>
              <a:path h="1569286" w="4964650">
                <a:moveTo>
                  <a:pt x="0" y="0"/>
                </a:moveTo>
                <a:lnTo>
                  <a:pt x="4964650" y="0"/>
                </a:lnTo>
                <a:lnTo>
                  <a:pt x="4964650" y="1569286"/>
                </a:lnTo>
                <a:lnTo>
                  <a:pt x="0" y="15692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19065" y="5500634"/>
            <a:ext cx="4161751" cy="1184729"/>
            <a:chOff x="0" y="0"/>
            <a:chExt cx="5549001" cy="15796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549001" cy="1579638"/>
              <a:chOff x="0" y="0"/>
              <a:chExt cx="2565722" cy="73038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65722" cy="730386"/>
              </a:xfrm>
              <a:custGeom>
                <a:avLst/>
                <a:gdLst/>
                <a:ahLst/>
                <a:cxnLst/>
                <a:rect r="r" b="b" t="t" l="l"/>
                <a:pathLst>
                  <a:path h="730386" w="2565722">
                    <a:moveTo>
                      <a:pt x="0" y="0"/>
                    </a:moveTo>
                    <a:lnTo>
                      <a:pt x="2362522" y="0"/>
                    </a:lnTo>
                    <a:lnTo>
                      <a:pt x="2565722" y="365193"/>
                    </a:lnTo>
                    <a:lnTo>
                      <a:pt x="2362522" y="730386"/>
                    </a:lnTo>
                    <a:lnTo>
                      <a:pt x="0" y="730386"/>
                    </a:lnTo>
                    <a:lnTo>
                      <a:pt x="203200" y="3651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77800" y="-38100"/>
                <a:ext cx="2311722" cy="7684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72156" y="182499"/>
              <a:ext cx="4756326" cy="1176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56"/>
                </a:lnSpc>
                <a:spcBef>
                  <a:spcPct val="0"/>
                </a:spcBef>
              </a:pPr>
              <a:r>
                <a:rPr lang="en-US" b="true" sz="264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 efficace transmise au rotor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19065" y="1550027"/>
            <a:ext cx="4161751" cy="1184729"/>
            <a:chOff x="0" y="0"/>
            <a:chExt cx="5549001" cy="157963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549001" cy="1579638"/>
              <a:chOff x="0" y="0"/>
              <a:chExt cx="2565722" cy="73038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565722" cy="730386"/>
              </a:xfrm>
              <a:custGeom>
                <a:avLst/>
                <a:gdLst/>
                <a:ahLst/>
                <a:cxnLst/>
                <a:rect r="r" b="b" t="t" l="l"/>
                <a:pathLst>
                  <a:path h="730386" w="2565722">
                    <a:moveTo>
                      <a:pt x="0" y="0"/>
                    </a:moveTo>
                    <a:lnTo>
                      <a:pt x="2362522" y="0"/>
                    </a:lnTo>
                    <a:lnTo>
                      <a:pt x="2565722" y="365193"/>
                    </a:lnTo>
                    <a:lnTo>
                      <a:pt x="2362522" y="730386"/>
                    </a:lnTo>
                    <a:lnTo>
                      <a:pt x="0" y="730386"/>
                    </a:lnTo>
                    <a:lnTo>
                      <a:pt x="203200" y="3651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77800" y="-38100"/>
                <a:ext cx="2311722" cy="7684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20519" y="136304"/>
              <a:ext cx="4907964" cy="12582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36"/>
                </a:lnSpc>
                <a:spcBef>
                  <a:spcPct val="0"/>
                </a:spcBef>
              </a:pPr>
              <a:r>
                <a:rPr lang="en-US" b="true" sz="277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Impédance Operationelle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19065" y="3525331"/>
            <a:ext cx="4161751" cy="1184729"/>
            <a:chOff x="0" y="0"/>
            <a:chExt cx="5549001" cy="15796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549001" cy="1579638"/>
              <a:chOff x="0" y="0"/>
              <a:chExt cx="2565722" cy="73038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565722" cy="730386"/>
              </a:xfrm>
              <a:custGeom>
                <a:avLst/>
                <a:gdLst/>
                <a:ahLst/>
                <a:cxnLst/>
                <a:rect r="r" b="b" t="t" l="l"/>
                <a:pathLst>
                  <a:path h="730386" w="2565722">
                    <a:moveTo>
                      <a:pt x="0" y="0"/>
                    </a:moveTo>
                    <a:lnTo>
                      <a:pt x="2362522" y="0"/>
                    </a:lnTo>
                    <a:lnTo>
                      <a:pt x="2565722" y="365193"/>
                    </a:lnTo>
                    <a:lnTo>
                      <a:pt x="2362522" y="730386"/>
                    </a:lnTo>
                    <a:lnTo>
                      <a:pt x="0" y="730386"/>
                    </a:lnTo>
                    <a:lnTo>
                      <a:pt x="203200" y="3651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77800" y="-38100"/>
                <a:ext cx="2311722" cy="7684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89211" y="481347"/>
              <a:ext cx="4970578" cy="578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92"/>
                </a:lnSpc>
                <a:spcBef>
                  <a:spcPct val="0"/>
                </a:spcBef>
              </a:pPr>
              <a:r>
                <a:rPr lang="en-US" b="true" sz="267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FCEM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19065" y="7476491"/>
            <a:ext cx="4161751" cy="1184729"/>
            <a:chOff x="0" y="0"/>
            <a:chExt cx="5549001" cy="157963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549001" cy="1579638"/>
              <a:chOff x="0" y="0"/>
              <a:chExt cx="2565722" cy="73038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565722" cy="730386"/>
              </a:xfrm>
              <a:custGeom>
                <a:avLst/>
                <a:gdLst/>
                <a:ahLst/>
                <a:cxnLst/>
                <a:rect r="r" b="b" t="t" l="l"/>
                <a:pathLst>
                  <a:path h="730386" w="2565722">
                    <a:moveTo>
                      <a:pt x="0" y="0"/>
                    </a:moveTo>
                    <a:lnTo>
                      <a:pt x="2362522" y="0"/>
                    </a:lnTo>
                    <a:lnTo>
                      <a:pt x="2565722" y="365193"/>
                    </a:lnTo>
                    <a:lnTo>
                      <a:pt x="2362522" y="730386"/>
                    </a:lnTo>
                    <a:lnTo>
                      <a:pt x="0" y="730386"/>
                    </a:lnTo>
                    <a:lnTo>
                      <a:pt x="203200" y="3651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6AE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38100"/>
                <a:ext cx="2311722" cy="7684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44021" y="150770"/>
              <a:ext cx="5060959" cy="12095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713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Couple électromagnétique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821134" y="1172237"/>
            <a:ext cx="8571743" cy="1940309"/>
          </a:xfrm>
          <a:custGeom>
            <a:avLst/>
            <a:gdLst/>
            <a:ahLst/>
            <a:cxnLst/>
            <a:rect r="r" b="b" t="t" l="l"/>
            <a:pathLst>
              <a:path h="1940309" w="8571743">
                <a:moveTo>
                  <a:pt x="0" y="0"/>
                </a:moveTo>
                <a:lnTo>
                  <a:pt x="8571743" y="0"/>
                </a:lnTo>
                <a:lnTo>
                  <a:pt x="8571743" y="1940309"/>
                </a:lnTo>
                <a:lnTo>
                  <a:pt x="0" y="1940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821134" y="3525331"/>
            <a:ext cx="6305175" cy="1155949"/>
          </a:xfrm>
          <a:custGeom>
            <a:avLst/>
            <a:gdLst/>
            <a:ahLst/>
            <a:cxnLst/>
            <a:rect r="r" b="b" t="t" l="l"/>
            <a:pathLst>
              <a:path h="1155949" w="6305175">
                <a:moveTo>
                  <a:pt x="0" y="0"/>
                </a:moveTo>
                <a:lnTo>
                  <a:pt x="6305175" y="0"/>
                </a:lnTo>
                <a:lnTo>
                  <a:pt x="6305175" y="1155948"/>
                </a:lnTo>
                <a:lnTo>
                  <a:pt x="0" y="1155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821134" y="5357440"/>
            <a:ext cx="9461296" cy="1471116"/>
          </a:xfrm>
          <a:custGeom>
            <a:avLst/>
            <a:gdLst/>
            <a:ahLst/>
            <a:cxnLst/>
            <a:rect r="r" b="b" t="t" l="l"/>
            <a:pathLst>
              <a:path h="1471116" w="9461296">
                <a:moveTo>
                  <a:pt x="0" y="0"/>
                </a:moveTo>
                <a:lnTo>
                  <a:pt x="9461296" y="0"/>
                </a:lnTo>
                <a:lnTo>
                  <a:pt x="9461296" y="1471117"/>
                </a:lnTo>
                <a:lnTo>
                  <a:pt x="0" y="1471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821134" y="7347377"/>
            <a:ext cx="9727487" cy="1313842"/>
          </a:xfrm>
          <a:custGeom>
            <a:avLst/>
            <a:gdLst/>
            <a:ahLst/>
            <a:cxnLst/>
            <a:rect r="r" b="b" t="t" l="l"/>
            <a:pathLst>
              <a:path h="1313842" w="9727487">
                <a:moveTo>
                  <a:pt x="0" y="0"/>
                </a:moveTo>
                <a:lnTo>
                  <a:pt x="9727487" y="0"/>
                </a:lnTo>
                <a:lnTo>
                  <a:pt x="9727487" y="1313843"/>
                </a:lnTo>
                <a:lnTo>
                  <a:pt x="0" y="1313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286157" y="0"/>
            <a:ext cx="15430157" cy="10545890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464" t="0" r="-21464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944113" y="4051481"/>
            <a:ext cx="8457192" cy="199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APPLICATION ET</a:t>
            </a:r>
            <a:r>
              <a:rPr lang="en-US" b="true" sz="657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resultats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12944" y="293068"/>
            <a:ext cx="11262112" cy="9702530"/>
            <a:chOff x="0" y="0"/>
            <a:chExt cx="4274903" cy="3682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903" cy="3682913"/>
            </a:xfrm>
            <a:custGeom>
              <a:avLst/>
              <a:gdLst/>
              <a:ahLst/>
              <a:cxnLst/>
              <a:rect r="r" b="b" t="t" l="l"/>
              <a:pathLst>
                <a:path h="3682913" w="4274903">
                  <a:moveTo>
                    <a:pt x="41246" y="0"/>
                  </a:moveTo>
                  <a:lnTo>
                    <a:pt x="4233657" y="0"/>
                  </a:lnTo>
                  <a:cubicBezTo>
                    <a:pt x="4244596" y="0"/>
                    <a:pt x="4255087" y="4346"/>
                    <a:pt x="4262822" y="12081"/>
                  </a:cubicBezTo>
                  <a:cubicBezTo>
                    <a:pt x="4270558" y="19816"/>
                    <a:pt x="4274903" y="30307"/>
                    <a:pt x="4274903" y="41246"/>
                  </a:cubicBezTo>
                  <a:lnTo>
                    <a:pt x="4274903" y="3641667"/>
                  </a:lnTo>
                  <a:cubicBezTo>
                    <a:pt x="4274903" y="3664447"/>
                    <a:pt x="4256437" y="3682913"/>
                    <a:pt x="4233657" y="3682913"/>
                  </a:cubicBezTo>
                  <a:lnTo>
                    <a:pt x="41246" y="3682913"/>
                  </a:lnTo>
                  <a:cubicBezTo>
                    <a:pt x="30307" y="3682913"/>
                    <a:pt x="19816" y="3678568"/>
                    <a:pt x="12081" y="3670833"/>
                  </a:cubicBezTo>
                  <a:cubicBezTo>
                    <a:pt x="4346" y="3663097"/>
                    <a:pt x="0" y="3652607"/>
                    <a:pt x="0" y="3641667"/>
                  </a:cubicBezTo>
                  <a:lnTo>
                    <a:pt x="0" y="41246"/>
                  </a:lnTo>
                  <a:cubicBezTo>
                    <a:pt x="0" y="18466"/>
                    <a:pt x="18466" y="0"/>
                    <a:pt x="41246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903" cy="3721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180828" y="403577"/>
            <a:ext cx="7926344" cy="9481512"/>
          </a:xfrm>
          <a:custGeom>
            <a:avLst/>
            <a:gdLst/>
            <a:ahLst/>
            <a:cxnLst/>
            <a:rect r="r" b="b" t="t" l="l"/>
            <a:pathLst>
              <a:path h="9481512" w="7926344">
                <a:moveTo>
                  <a:pt x="0" y="0"/>
                </a:moveTo>
                <a:lnTo>
                  <a:pt x="7926344" y="0"/>
                </a:lnTo>
                <a:lnTo>
                  <a:pt x="7926344" y="9481512"/>
                </a:lnTo>
                <a:lnTo>
                  <a:pt x="0" y="9481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6216" y="1019175"/>
            <a:ext cx="13923690" cy="97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Induction radiale a vide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87872" y="2431648"/>
            <a:ext cx="12912256" cy="7350197"/>
            <a:chOff x="0" y="0"/>
            <a:chExt cx="4901269" cy="2790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1269" cy="2790008"/>
            </a:xfrm>
            <a:custGeom>
              <a:avLst/>
              <a:gdLst/>
              <a:ahLst/>
              <a:cxnLst/>
              <a:rect r="r" b="b" t="t" l="l"/>
              <a:pathLst>
                <a:path h="2790008" w="4901269">
                  <a:moveTo>
                    <a:pt x="35975" y="0"/>
                  </a:moveTo>
                  <a:lnTo>
                    <a:pt x="4865295" y="0"/>
                  </a:lnTo>
                  <a:cubicBezTo>
                    <a:pt x="4885163" y="0"/>
                    <a:pt x="4901269" y="16106"/>
                    <a:pt x="4901269" y="35975"/>
                  </a:cubicBezTo>
                  <a:lnTo>
                    <a:pt x="4901269" y="2754033"/>
                  </a:lnTo>
                  <a:cubicBezTo>
                    <a:pt x="4901269" y="2763574"/>
                    <a:pt x="4897479" y="2772725"/>
                    <a:pt x="4890733" y="2779471"/>
                  </a:cubicBezTo>
                  <a:cubicBezTo>
                    <a:pt x="4883986" y="2786218"/>
                    <a:pt x="4874836" y="2790008"/>
                    <a:pt x="4865295" y="2790008"/>
                  </a:cubicBezTo>
                  <a:lnTo>
                    <a:pt x="35975" y="2790008"/>
                  </a:lnTo>
                  <a:cubicBezTo>
                    <a:pt x="26434" y="2790008"/>
                    <a:pt x="17283" y="2786218"/>
                    <a:pt x="10537" y="2779471"/>
                  </a:cubicBezTo>
                  <a:cubicBezTo>
                    <a:pt x="3790" y="2772725"/>
                    <a:pt x="0" y="2763574"/>
                    <a:pt x="0" y="2754033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901269" cy="282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12672" y="2926972"/>
            <a:ext cx="12662656" cy="6331328"/>
          </a:xfrm>
          <a:custGeom>
            <a:avLst/>
            <a:gdLst/>
            <a:ahLst/>
            <a:cxnLst/>
            <a:rect r="r" b="b" t="t" l="l"/>
            <a:pathLst>
              <a:path h="6331328" w="12662656">
                <a:moveTo>
                  <a:pt x="0" y="0"/>
                </a:moveTo>
                <a:lnTo>
                  <a:pt x="12662656" y="0"/>
                </a:lnTo>
                <a:lnTo>
                  <a:pt x="12662656" y="6331328"/>
                </a:lnTo>
                <a:lnTo>
                  <a:pt x="0" y="6331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87872" y="2431648"/>
            <a:ext cx="12912256" cy="7350197"/>
            <a:chOff x="0" y="0"/>
            <a:chExt cx="4901269" cy="2790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01269" cy="2790008"/>
            </a:xfrm>
            <a:custGeom>
              <a:avLst/>
              <a:gdLst/>
              <a:ahLst/>
              <a:cxnLst/>
              <a:rect r="r" b="b" t="t" l="l"/>
              <a:pathLst>
                <a:path h="2790008" w="4901269">
                  <a:moveTo>
                    <a:pt x="35975" y="0"/>
                  </a:moveTo>
                  <a:lnTo>
                    <a:pt x="4865295" y="0"/>
                  </a:lnTo>
                  <a:cubicBezTo>
                    <a:pt x="4885163" y="0"/>
                    <a:pt x="4901269" y="16106"/>
                    <a:pt x="4901269" y="35975"/>
                  </a:cubicBezTo>
                  <a:lnTo>
                    <a:pt x="4901269" y="2754033"/>
                  </a:lnTo>
                  <a:cubicBezTo>
                    <a:pt x="4901269" y="2763574"/>
                    <a:pt x="4897479" y="2772725"/>
                    <a:pt x="4890733" y="2779471"/>
                  </a:cubicBezTo>
                  <a:cubicBezTo>
                    <a:pt x="4883986" y="2786218"/>
                    <a:pt x="4874836" y="2790008"/>
                    <a:pt x="4865295" y="2790008"/>
                  </a:cubicBezTo>
                  <a:lnTo>
                    <a:pt x="35975" y="2790008"/>
                  </a:lnTo>
                  <a:cubicBezTo>
                    <a:pt x="26434" y="2790008"/>
                    <a:pt x="17283" y="2786218"/>
                    <a:pt x="10537" y="2779471"/>
                  </a:cubicBezTo>
                  <a:cubicBezTo>
                    <a:pt x="3790" y="2772725"/>
                    <a:pt x="0" y="2763574"/>
                    <a:pt x="0" y="2754033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01269" cy="282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063113" y="3125366"/>
            <a:ext cx="11878404" cy="5939202"/>
          </a:xfrm>
          <a:custGeom>
            <a:avLst/>
            <a:gdLst/>
            <a:ahLst/>
            <a:cxnLst/>
            <a:rect r="r" b="b" t="t" l="l"/>
            <a:pathLst>
              <a:path h="5939202" w="11878404">
                <a:moveTo>
                  <a:pt x="0" y="0"/>
                </a:moveTo>
                <a:lnTo>
                  <a:pt x="11878404" y="0"/>
                </a:lnTo>
                <a:lnTo>
                  <a:pt x="11878404" y="5939202"/>
                </a:lnTo>
                <a:lnTo>
                  <a:pt x="0" y="5939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6216" y="1019175"/>
            <a:ext cx="13923690" cy="97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Induction Tangentielle a vide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87872" y="2431648"/>
            <a:ext cx="12912256" cy="7350197"/>
            <a:chOff x="0" y="0"/>
            <a:chExt cx="4901269" cy="2790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01269" cy="2790008"/>
            </a:xfrm>
            <a:custGeom>
              <a:avLst/>
              <a:gdLst/>
              <a:ahLst/>
              <a:cxnLst/>
              <a:rect r="r" b="b" t="t" l="l"/>
              <a:pathLst>
                <a:path h="2790008" w="4901269">
                  <a:moveTo>
                    <a:pt x="35975" y="0"/>
                  </a:moveTo>
                  <a:lnTo>
                    <a:pt x="4865295" y="0"/>
                  </a:lnTo>
                  <a:cubicBezTo>
                    <a:pt x="4885163" y="0"/>
                    <a:pt x="4901269" y="16106"/>
                    <a:pt x="4901269" y="35975"/>
                  </a:cubicBezTo>
                  <a:lnTo>
                    <a:pt x="4901269" y="2754033"/>
                  </a:lnTo>
                  <a:cubicBezTo>
                    <a:pt x="4901269" y="2763574"/>
                    <a:pt x="4897479" y="2772725"/>
                    <a:pt x="4890733" y="2779471"/>
                  </a:cubicBezTo>
                  <a:cubicBezTo>
                    <a:pt x="4883986" y="2786218"/>
                    <a:pt x="4874836" y="2790008"/>
                    <a:pt x="4865295" y="2790008"/>
                  </a:cubicBezTo>
                  <a:lnTo>
                    <a:pt x="35975" y="2790008"/>
                  </a:lnTo>
                  <a:cubicBezTo>
                    <a:pt x="26434" y="2790008"/>
                    <a:pt x="17283" y="2786218"/>
                    <a:pt x="10537" y="2779471"/>
                  </a:cubicBezTo>
                  <a:cubicBezTo>
                    <a:pt x="3790" y="2772725"/>
                    <a:pt x="0" y="2763574"/>
                    <a:pt x="0" y="2754033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01269" cy="282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204798" y="3137145"/>
            <a:ext cx="11878404" cy="5939202"/>
          </a:xfrm>
          <a:custGeom>
            <a:avLst/>
            <a:gdLst/>
            <a:ahLst/>
            <a:cxnLst/>
            <a:rect r="r" b="b" t="t" l="l"/>
            <a:pathLst>
              <a:path h="5939202" w="11878404">
                <a:moveTo>
                  <a:pt x="0" y="0"/>
                </a:moveTo>
                <a:lnTo>
                  <a:pt x="11878404" y="0"/>
                </a:lnTo>
                <a:lnTo>
                  <a:pt x="11878404" y="5939202"/>
                </a:lnTo>
                <a:lnTo>
                  <a:pt x="0" y="5939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6216" y="1019175"/>
            <a:ext cx="13923690" cy="97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Induction radiale rotor bloqué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87872" y="2431648"/>
            <a:ext cx="12912256" cy="7350197"/>
            <a:chOff x="0" y="0"/>
            <a:chExt cx="4901269" cy="2790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01269" cy="2790008"/>
            </a:xfrm>
            <a:custGeom>
              <a:avLst/>
              <a:gdLst/>
              <a:ahLst/>
              <a:cxnLst/>
              <a:rect r="r" b="b" t="t" l="l"/>
              <a:pathLst>
                <a:path h="2790008" w="4901269">
                  <a:moveTo>
                    <a:pt x="35975" y="0"/>
                  </a:moveTo>
                  <a:lnTo>
                    <a:pt x="4865295" y="0"/>
                  </a:lnTo>
                  <a:cubicBezTo>
                    <a:pt x="4885163" y="0"/>
                    <a:pt x="4901269" y="16106"/>
                    <a:pt x="4901269" y="35975"/>
                  </a:cubicBezTo>
                  <a:lnTo>
                    <a:pt x="4901269" y="2754033"/>
                  </a:lnTo>
                  <a:cubicBezTo>
                    <a:pt x="4901269" y="2763574"/>
                    <a:pt x="4897479" y="2772725"/>
                    <a:pt x="4890733" y="2779471"/>
                  </a:cubicBezTo>
                  <a:cubicBezTo>
                    <a:pt x="4883986" y="2786218"/>
                    <a:pt x="4874836" y="2790008"/>
                    <a:pt x="4865295" y="2790008"/>
                  </a:cubicBezTo>
                  <a:lnTo>
                    <a:pt x="35975" y="2790008"/>
                  </a:lnTo>
                  <a:cubicBezTo>
                    <a:pt x="26434" y="2790008"/>
                    <a:pt x="17283" y="2786218"/>
                    <a:pt x="10537" y="2779471"/>
                  </a:cubicBezTo>
                  <a:cubicBezTo>
                    <a:pt x="3790" y="2772725"/>
                    <a:pt x="0" y="2763574"/>
                    <a:pt x="0" y="2754033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01269" cy="282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921381" y="3093563"/>
            <a:ext cx="11878404" cy="5939202"/>
          </a:xfrm>
          <a:custGeom>
            <a:avLst/>
            <a:gdLst/>
            <a:ahLst/>
            <a:cxnLst/>
            <a:rect r="r" b="b" t="t" l="l"/>
            <a:pathLst>
              <a:path h="5939202" w="11878404">
                <a:moveTo>
                  <a:pt x="0" y="0"/>
                </a:moveTo>
                <a:lnTo>
                  <a:pt x="11878404" y="0"/>
                </a:lnTo>
                <a:lnTo>
                  <a:pt x="11878404" y="5939202"/>
                </a:lnTo>
                <a:lnTo>
                  <a:pt x="0" y="5939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19175"/>
            <a:ext cx="14949380" cy="98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Induction Tangentielle rotor bloqué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87872" y="2431648"/>
            <a:ext cx="12912256" cy="7350197"/>
            <a:chOff x="0" y="0"/>
            <a:chExt cx="4901269" cy="2790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01269" cy="2790008"/>
            </a:xfrm>
            <a:custGeom>
              <a:avLst/>
              <a:gdLst/>
              <a:ahLst/>
              <a:cxnLst/>
              <a:rect r="r" b="b" t="t" l="l"/>
              <a:pathLst>
                <a:path h="2790008" w="4901269">
                  <a:moveTo>
                    <a:pt x="35975" y="0"/>
                  </a:moveTo>
                  <a:lnTo>
                    <a:pt x="4865295" y="0"/>
                  </a:lnTo>
                  <a:cubicBezTo>
                    <a:pt x="4885163" y="0"/>
                    <a:pt x="4901269" y="16106"/>
                    <a:pt x="4901269" y="35975"/>
                  </a:cubicBezTo>
                  <a:lnTo>
                    <a:pt x="4901269" y="2754033"/>
                  </a:lnTo>
                  <a:cubicBezTo>
                    <a:pt x="4901269" y="2763574"/>
                    <a:pt x="4897479" y="2772725"/>
                    <a:pt x="4890733" y="2779471"/>
                  </a:cubicBezTo>
                  <a:cubicBezTo>
                    <a:pt x="4883986" y="2786218"/>
                    <a:pt x="4874836" y="2790008"/>
                    <a:pt x="4865295" y="2790008"/>
                  </a:cubicBezTo>
                  <a:lnTo>
                    <a:pt x="35975" y="2790008"/>
                  </a:lnTo>
                  <a:cubicBezTo>
                    <a:pt x="26434" y="2790008"/>
                    <a:pt x="17283" y="2786218"/>
                    <a:pt x="10537" y="2779471"/>
                  </a:cubicBezTo>
                  <a:cubicBezTo>
                    <a:pt x="3790" y="2772725"/>
                    <a:pt x="0" y="2763574"/>
                    <a:pt x="0" y="2754033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01269" cy="282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593638" y="2776529"/>
            <a:ext cx="11100723" cy="6660434"/>
          </a:xfrm>
          <a:custGeom>
            <a:avLst/>
            <a:gdLst/>
            <a:ahLst/>
            <a:cxnLst/>
            <a:rect r="r" b="b" t="t" l="l"/>
            <a:pathLst>
              <a:path h="6660434" w="11100723">
                <a:moveTo>
                  <a:pt x="0" y="0"/>
                </a:moveTo>
                <a:lnTo>
                  <a:pt x="11100724" y="0"/>
                </a:lnTo>
                <a:lnTo>
                  <a:pt x="11100724" y="6660434"/>
                </a:lnTo>
                <a:lnTo>
                  <a:pt x="0" y="6660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6757" y="1019175"/>
            <a:ext cx="11143310" cy="97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Couple électromagnétique 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87872" y="2431648"/>
            <a:ext cx="12912256" cy="7350197"/>
            <a:chOff x="0" y="0"/>
            <a:chExt cx="4901269" cy="2790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01269" cy="2790008"/>
            </a:xfrm>
            <a:custGeom>
              <a:avLst/>
              <a:gdLst/>
              <a:ahLst/>
              <a:cxnLst/>
              <a:rect r="r" b="b" t="t" l="l"/>
              <a:pathLst>
                <a:path h="2790008" w="4901269">
                  <a:moveTo>
                    <a:pt x="35975" y="0"/>
                  </a:moveTo>
                  <a:lnTo>
                    <a:pt x="4865295" y="0"/>
                  </a:lnTo>
                  <a:cubicBezTo>
                    <a:pt x="4885163" y="0"/>
                    <a:pt x="4901269" y="16106"/>
                    <a:pt x="4901269" y="35975"/>
                  </a:cubicBezTo>
                  <a:lnTo>
                    <a:pt x="4901269" y="2754033"/>
                  </a:lnTo>
                  <a:cubicBezTo>
                    <a:pt x="4901269" y="2763574"/>
                    <a:pt x="4897479" y="2772725"/>
                    <a:pt x="4890733" y="2779471"/>
                  </a:cubicBezTo>
                  <a:cubicBezTo>
                    <a:pt x="4883986" y="2786218"/>
                    <a:pt x="4874836" y="2790008"/>
                    <a:pt x="4865295" y="2790008"/>
                  </a:cubicBezTo>
                  <a:lnTo>
                    <a:pt x="35975" y="2790008"/>
                  </a:lnTo>
                  <a:cubicBezTo>
                    <a:pt x="26434" y="2790008"/>
                    <a:pt x="17283" y="2786218"/>
                    <a:pt x="10537" y="2779471"/>
                  </a:cubicBezTo>
                  <a:cubicBezTo>
                    <a:pt x="3790" y="2772725"/>
                    <a:pt x="0" y="2763574"/>
                    <a:pt x="0" y="2754033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01269" cy="282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563070" y="2826768"/>
            <a:ext cx="10930638" cy="6558383"/>
          </a:xfrm>
          <a:custGeom>
            <a:avLst/>
            <a:gdLst/>
            <a:ahLst/>
            <a:cxnLst/>
            <a:rect r="r" b="b" t="t" l="l"/>
            <a:pathLst>
              <a:path h="6558383" w="10930638">
                <a:moveTo>
                  <a:pt x="0" y="0"/>
                </a:moveTo>
                <a:lnTo>
                  <a:pt x="10930638" y="0"/>
                </a:lnTo>
                <a:lnTo>
                  <a:pt x="10930638" y="6558383"/>
                </a:lnTo>
                <a:lnTo>
                  <a:pt x="0" y="6558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6757" y="1019175"/>
            <a:ext cx="11143310" cy="97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Couple électromagnétique 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03006" y="2312578"/>
            <a:ext cx="15056294" cy="7350197"/>
            <a:chOff x="0" y="0"/>
            <a:chExt cx="5715109" cy="2790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5109" cy="2790008"/>
            </a:xfrm>
            <a:custGeom>
              <a:avLst/>
              <a:gdLst/>
              <a:ahLst/>
              <a:cxnLst/>
              <a:rect r="r" b="b" t="t" l="l"/>
              <a:pathLst>
                <a:path h="2790008" w="5715109">
                  <a:moveTo>
                    <a:pt x="30852" y="0"/>
                  </a:moveTo>
                  <a:lnTo>
                    <a:pt x="5684257" y="0"/>
                  </a:lnTo>
                  <a:cubicBezTo>
                    <a:pt x="5692440" y="0"/>
                    <a:pt x="5700287" y="3250"/>
                    <a:pt x="5706073" y="9036"/>
                  </a:cubicBezTo>
                  <a:cubicBezTo>
                    <a:pt x="5711859" y="14822"/>
                    <a:pt x="5715109" y="22669"/>
                    <a:pt x="5715109" y="30852"/>
                  </a:cubicBezTo>
                  <a:lnTo>
                    <a:pt x="5715109" y="2759156"/>
                  </a:lnTo>
                  <a:cubicBezTo>
                    <a:pt x="5715109" y="2767338"/>
                    <a:pt x="5711859" y="2775186"/>
                    <a:pt x="5706073" y="2780972"/>
                  </a:cubicBezTo>
                  <a:cubicBezTo>
                    <a:pt x="5700287" y="2786758"/>
                    <a:pt x="5692440" y="2790008"/>
                    <a:pt x="5684257" y="2790008"/>
                  </a:cubicBezTo>
                  <a:lnTo>
                    <a:pt x="30852" y="2790008"/>
                  </a:lnTo>
                  <a:cubicBezTo>
                    <a:pt x="13813" y="2790008"/>
                    <a:pt x="0" y="2776195"/>
                    <a:pt x="0" y="2759156"/>
                  </a:cubicBezTo>
                  <a:lnTo>
                    <a:pt x="0" y="30852"/>
                  </a:lnTo>
                  <a:cubicBezTo>
                    <a:pt x="0" y="13813"/>
                    <a:pt x="13813" y="0"/>
                    <a:pt x="30852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715109" cy="282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501732" y="2686181"/>
            <a:ext cx="6763627" cy="6602991"/>
          </a:xfrm>
          <a:custGeom>
            <a:avLst/>
            <a:gdLst/>
            <a:ahLst/>
            <a:cxnLst/>
            <a:rect r="r" b="b" t="t" l="l"/>
            <a:pathLst>
              <a:path h="6602991" w="6763627">
                <a:moveTo>
                  <a:pt x="0" y="0"/>
                </a:moveTo>
                <a:lnTo>
                  <a:pt x="6763627" y="0"/>
                </a:lnTo>
                <a:lnTo>
                  <a:pt x="6763627" y="6602991"/>
                </a:lnTo>
                <a:lnTo>
                  <a:pt x="0" y="6602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65359" y="3706392"/>
            <a:ext cx="7587284" cy="4552370"/>
          </a:xfrm>
          <a:custGeom>
            <a:avLst/>
            <a:gdLst/>
            <a:ahLst/>
            <a:cxnLst/>
            <a:rect r="r" b="b" t="t" l="l"/>
            <a:pathLst>
              <a:path h="4552370" w="7587284">
                <a:moveTo>
                  <a:pt x="0" y="0"/>
                </a:moveTo>
                <a:lnTo>
                  <a:pt x="7587284" y="0"/>
                </a:lnTo>
                <a:lnTo>
                  <a:pt x="7587284" y="4552370"/>
                </a:lnTo>
                <a:lnTo>
                  <a:pt x="0" y="45523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6757" y="1019175"/>
            <a:ext cx="11143310" cy="97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Couple électromagnétique 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87872" y="2431648"/>
            <a:ext cx="12912256" cy="7350197"/>
            <a:chOff x="0" y="0"/>
            <a:chExt cx="4901269" cy="27900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01269" cy="2790008"/>
            </a:xfrm>
            <a:custGeom>
              <a:avLst/>
              <a:gdLst/>
              <a:ahLst/>
              <a:cxnLst/>
              <a:rect r="r" b="b" t="t" l="l"/>
              <a:pathLst>
                <a:path h="2790008" w="4901269">
                  <a:moveTo>
                    <a:pt x="35975" y="0"/>
                  </a:moveTo>
                  <a:lnTo>
                    <a:pt x="4865295" y="0"/>
                  </a:lnTo>
                  <a:cubicBezTo>
                    <a:pt x="4885163" y="0"/>
                    <a:pt x="4901269" y="16106"/>
                    <a:pt x="4901269" y="35975"/>
                  </a:cubicBezTo>
                  <a:lnTo>
                    <a:pt x="4901269" y="2754033"/>
                  </a:lnTo>
                  <a:cubicBezTo>
                    <a:pt x="4901269" y="2763574"/>
                    <a:pt x="4897479" y="2772725"/>
                    <a:pt x="4890733" y="2779471"/>
                  </a:cubicBezTo>
                  <a:cubicBezTo>
                    <a:pt x="4883986" y="2786218"/>
                    <a:pt x="4874836" y="2790008"/>
                    <a:pt x="4865295" y="2790008"/>
                  </a:cubicBezTo>
                  <a:lnTo>
                    <a:pt x="35975" y="2790008"/>
                  </a:lnTo>
                  <a:cubicBezTo>
                    <a:pt x="26434" y="2790008"/>
                    <a:pt x="17283" y="2786218"/>
                    <a:pt x="10537" y="2779471"/>
                  </a:cubicBezTo>
                  <a:cubicBezTo>
                    <a:pt x="3790" y="2772725"/>
                    <a:pt x="0" y="2763574"/>
                    <a:pt x="0" y="2754033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01269" cy="282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312468" y="2732772"/>
            <a:ext cx="9663064" cy="6747949"/>
          </a:xfrm>
          <a:custGeom>
            <a:avLst/>
            <a:gdLst/>
            <a:ahLst/>
            <a:cxnLst/>
            <a:rect r="r" b="b" t="t" l="l"/>
            <a:pathLst>
              <a:path h="6747949" w="9663064">
                <a:moveTo>
                  <a:pt x="0" y="0"/>
                </a:moveTo>
                <a:lnTo>
                  <a:pt x="9663064" y="0"/>
                </a:lnTo>
                <a:lnTo>
                  <a:pt x="9663064" y="6747949"/>
                </a:lnTo>
                <a:lnTo>
                  <a:pt x="0" y="6747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6216" y="1019175"/>
            <a:ext cx="11723702" cy="97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Courant statorique phase A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229" y="654201"/>
            <a:ext cx="17323541" cy="194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Résistance raménée au rotor en fonction de glissement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44899" y="2688593"/>
            <a:ext cx="11801270" cy="6836307"/>
            <a:chOff x="0" y="0"/>
            <a:chExt cx="4479559" cy="2594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79559" cy="2594944"/>
            </a:xfrm>
            <a:custGeom>
              <a:avLst/>
              <a:gdLst/>
              <a:ahLst/>
              <a:cxnLst/>
              <a:rect r="r" b="b" t="t" l="l"/>
              <a:pathLst>
                <a:path h="2594944" w="4479559">
                  <a:moveTo>
                    <a:pt x="39361" y="0"/>
                  </a:moveTo>
                  <a:lnTo>
                    <a:pt x="4440197" y="0"/>
                  </a:lnTo>
                  <a:cubicBezTo>
                    <a:pt x="4450636" y="0"/>
                    <a:pt x="4460648" y="4147"/>
                    <a:pt x="4468030" y="11529"/>
                  </a:cubicBezTo>
                  <a:cubicBezTo>
                    <a:pt x="4475412" y="18910"/>
                    <a:pt x="4479559" y="28922"/>
                    <a:pt x="4479559" y="39361"/>
                  </a:cubicBezTo>
                  <a:lnTo>
                    <a:pt x="4479559" y="2555583"/>
                  </a:lnTo>
                  <a:cubicBezTo>
                    <a:pt x="4479559" y="2577321"/>
                    <a:pt x="4461936" y="2594944"/>
                    <a:pt x="4440197" y="2594944"/>
                  </a:cubicBezTo>
                  <a:lnTo>
                    <a:pt x="39361" y="2594944"/>
                  </a:lnTo>
                  <a:cubicBezTo>
                    <a:pt x="28922" y="2594944"/>
                    <a:pt x="18910" y="2590797"/>
                    <a:pt x="11529" y="2583415"/>
                  </a:cubicBezTo>
                  <a:cubicBezTo>
                    <a:pt x="4147" y="2576034"/>
                    <a:pt x="0" y="2566022"/>
                    <a:pt x="0" y="2555583"/>
                  </a:cubicBezTo>
                  <a:lnTo>
                    <a:pt x="0" y="39361"/>
                  </a:lnTo>
                  <a:cubicBezTo>
                    <a:pt x="0" y="28922"/>
                    <a:pt x="4147" y="18910"/>
                    <a:pt x="11529" y="11529"/>
                  </a:cubicBezTo>
                  <a:cubicBezTo>
                    <a:pt x="18910" y="4147"/>
                    <a:pt x="28922" y="0"/>
                    <a:pt x="39361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79559" cy="2633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728364" y="2945538"/>
            <a:ext cx="10537361" cy="6322417"/>
          </a:xfrm>
          <a:custGeom>
            <a:avLst/>
            <a:gdLst/>
            <a:ahLst/>
            <a:cxnLst/>
            <a:rect r="r" b="b" t="t" l="l"/>
            <a:pathLst>
              <a:path h="6322417" w="10537361">
                <a:moveTo>
                  <a:pt x="0" y="0"/>
                </a:moveTo>
                <a:lnTo>
                  <a:pt x="10537361" y="0"/>
                </a:lnTo>
                <a:lnTo>
                  <a:pt x="10537361" y="6322417"/>
                </a:lnTo>
                <a:lnTo>
                  <a:pt x="0" y="63224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21" r="0" b="-2121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87872" y="2431648"/>
            <a:ext cx="12912256" cy="7350197"/>
            <a:chOff x="0" y="0"/>
            <a:chExt cx="4901269" cy="2790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01269" cy="2790008"/>
            </a:xfrm>
            <a:custGeom>
              <a:avLst/>
              <a:gdLst/>
              <a:ahLst/>
              <a:cxnLst/>
              <a:rect r="r" b="b" t="t" l="l"/>
              <a:pathLst>
                <a:path h="2790008" w="4901269">
                  <a:moveTo>
                    <a:pt x="35975" y="0"/>
                  </a:moveTo>
                  <a:lnTo>
                    <a:pt x="4865295" y="0"/>
                  </a:lnTo>
                  <a:cubicBezTo>
                    <a:pt x="4885163" y="0"/>
                    <a:pt x="4901269" y="16106"/>
                    <a:pt x="4901269" y="35975"/>
                  </a:cubicBezTo>
                  <a:lnTo>
                    <a:pt x="4901269" y="2754033"/>
                  </a:lnTo>
                  <a:cubicBezTo>
                    <a:pt x="4901269" y="2763574"/>
                    <a:pt x="4897479" y="2772725"/>
                    <a:pt x="4890733" y="2779471"/>
                  </a:cubicBezTo>
                  <a:cubicBezTo>
                    <a:pt x="4883986" y="2786218"/>
                    <a:pt x="4874836" y="2790008"/>
                    <a:pt x="4865295" y="2790008"/>
                  </a:cubicBezTo>
                  <a:lnTo>
                    <a:pt x="35975" y="2790008"/>
                  </a:lnTo>
                  <a:cubicBezTo>
                    <a:pt x="26434" y="2790008"/>
                    <a:pt x="17283" y="2786218"/>
                    <a:pt x="10537" y="2779471"/>
                  </a:cubicBezTo>
                  <a:cubicBezTo>
                    <a:pt x="3790" y="2772725"/>
                    <a:pt x="0" y="2763574"/>
                    <a:pt x="0" y="2754033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solidFill>
              <a:srgbClr val="FFFFFF"/>
            </a:solidFill>
            <a:ln w="114300" cap="rnd">
              <a:solidFill>
                <a:srgbClr val="39B54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01269" cy="282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227895" y="2502440"/>
            <a:ext cx="11494459" cy="7208612"/>
          </a:xfrm>
          <a:custGeom>
            <a:avLst/>
            <a:gdLst/>
            <a:ahLst/>
            <a:cxnLst/>
            <a:rect r="r" b="b" t="t" l="l"/>
            <a:pathLst>
              <a:path h="7208612" w="11494459">
                <a:moveTo>
                  <a:pt x="0" y="0"/>
                </a:moveTo>
                <a:lnTo>
                  <a:pt x="11494459" y="0"/>
                </a:lnTo>
                <a:lnTo>
                  <a:pt x="11494459" y="7208612"/>
                </a:lnTo>
                <a:lnTo>
                  <a:pt x="0" y="7208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7039" y="486290"/>
            <a:ext cx="17213256" cy="194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Inductance ramenée au rotor en fonction de glissement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5317" y="-219804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92467" y="83778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7039" y="486290"/>
            <a:ext cx="17213256" cy="97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Inductance magnetisante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0688" y="4175584"/>
            <a:ext cx="13943056" cy="19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7"/>
              </a:lnSpc>
            </a:pPr>
            <a:r>
              <a:rPr lang="en-US" sz="6426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femm                                      13.55</a:t>
            </a:r>
          </a:p>
          <a:p>
            <a:pPr algn="l" marL="0" indent="0" lvl="0">
              <a:lnSpc>
                <a:spcPts val="7776"/>
              </a:lnSpc>
            </a:pPr>
            <a:r>
              <a:rPr lang="en-US" b="true" sz="6426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Methode analytique             13.50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900729" y="2583841"/>
            <a:ext cx="8433109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84156" y="3153037"/>
            <a:ext cx="11506311" cy="54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13"/>
              </a:lnSpc>
              <a:spcBef>
                <a:spcPct val="0"/>
              </a:spcBef>
            </a:pPr>
            <a:r>
              <a:rPr lang="en-US" sz="348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 mini-projet a permis de </a:t>
            </a:r>
            <a:r>
              <a:rPr lang="en-US" sz="348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développer un modèle analytique de la machine asynchrone à cage, basé sur les équations de Maxwell et les conditions de passage. Il nous a permis de déterminer le champ magnétique, les courants induits, et les paramètres du circuit équivalent.</a:t>
            </a:r>
          </a:p>
          <a:p>
            <a:pPr algn="just" marL="0" indent="0" lvl="0">
              <a:lnSpc>
                <a:spcPts val="4813"/>
              </a:lnSpc>
              <a:spcBef>
                <a:spcPct val="0"/>
              </a:spcBef>
            </a:pPr>
            <a:r>
              <a:rPr lang="en-US" sz="3488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La validation par FEMM a confirmé la précision du modèle, et l’étude des barres défectueuses a montré leur impact sur les performances.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6150721">
            <a:off x="6080933" y="4579544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172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807534" y="0"/>
            <a:ext cx="6254290" cy="10287000"/>
            <a:chOff x="0" y="0"/>
            <a:chExt cx="3860673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606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3860673">
                  <a:moveTo>
                    <a:pt x="3860673" y="0"/>
                  </a:moveTo>
                  <a:lnTo>
                    <a:pt x="2341753" y="6350000"/>
                  </a:lnTo>
                  <a:lnTo>
                    <a:pt x="0" y="6350000"/>
                  </a:lnTo>
                  <a:lnTo>
                    <a:pt x="1518920" y="0"/>
                  </a:lnTo>
                  <a:lnTo>
                    <a:pt x="3860673" y="0"/>
                  </a:lnTo>
                  <a:close/>
                </a:path>
              </a:pathLst>
            </a:custGeom>
            <a:blipFill>
              <a:blip r:embed="rId3"/>
              <a:stretch>
                <a:fillRect l="-121983" t="0" r="-121983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4615544">
            <a:off x="10510810" y="5041623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7172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5159" y="1358617"/>
            <a:ext cx="9329138" cy="122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25"/>
              </a:lnSpc>
              <a:spcBef>
                <a:spcPct val="0"/>
              </a:spcBef>
            </a:pPr>
            <a:r>
              <a:rPr lang="en-US" b="true" sz="802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CONCLUSION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83520" y="1590911"/>
            <a:ext cx="2651835" cy="2651835"/>
          </a:xfrm>
          <a:custGeom>
            <a:avLst/>
            <a:gdLst/>
            <a:ahLst/>
            <a:cxnLst/>
            <a:rect r="r" b="b" t="t" l="l"/>
            <a:pathLst>
              <a:path h="2651835" w="2651835">
                <a:moveTo>
                  <a:pt x="0" y="0"/>
                </a:moveTo>
                <a:lnTo>
                  <a:pt x="2651835" y="0"/>
                </a:lnTo>
                <a:lnTo>
                  <a:pt x="2651835" y="2651835"/>
                </a:lnTo>
                <a:lnTo>
                  <a:pt x="0" y="2651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37321" y="2636321"/>
            <a:ext cx="7650679" cy="7650679"/>
            <a:chOff x="0" y="0"/>
            <a:chExt cx="3331210" cy="3331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0" y="3331210"/>
                  </a:lnTo>
                  <a:cubicBezTo>
                    <a:pt x="0" y="149098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4"/>
              <a:stretch>
                <a:fillRect l="-54562" t="0" r="-5456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789475" y="-570381"/>
            <a:ext cx="2651835" cy="2651835"/>
          </a:xfrm>
          <a:custGeom>
            <a:avLst/>
            <a:gdLst/>
            <a:ahLst/>
            <a:cxnLst/>
            <a:rect r="r" b="b" t="t" l="l"/>
            <a:pathLst>
              <a:path h="2651835" w="2651835">
                <a:moveTo>
                  <a:pt x="0" y="0"/>
                </a:moveTo>
                <a:lnTo>
                  <a:pt x="2651836" y="0"/>
                </a:lnTo>
                <a:lnTo>
                  <a:pt x="2651836" y="2651835"/>
                </a:lnTo>
                <a:lnTo>
                  <a:pt x="0" y="2651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62361" y="3742126"/>
            <a:ext cx="10434893" cy="265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43"/>
              </a:lnSpc>
            </a:pPr>
            <a:r>
              <a:rPr lang="en-US" b="true" sz="7530" spc="45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DAGp_IUF5CQ</dc:identifier>
  <dcterms:modified xsi:type="dcterms:W3CDTF">2011-08-01T06:04:30Z</dcterms:modified>
  <cp:revision>1</cp:revision>
  <dc:title>ME</dc:title>
</cp:coreProperties>
</file>